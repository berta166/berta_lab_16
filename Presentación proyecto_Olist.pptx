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67" r:id="rId2"/>
    <p:sldId id="257" r:id="rId3"/>
    <p:sldId id="258" r:id="rId4"/>
    <p:sldId id="259" r:id="rId5"/>
    <p:sldId id="260" r:id="rId6"/>
    <p:sldId id="261" r:id="rId7"/>
    <p:sldId id="266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BDC5"/>
    <a:srgbClr val="F3EEF1"/>
    <a:srgbClr val="7256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3CEDAB-A67A-4BEE-B338-968715B58DB9}" v="513" dt="2026-09-30T14:05:48.0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300" y="-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6A00C2-1508-4D12-86CD-4C2FB31B53A0}" type="datetimeFigureOut">
              <a:rPr lang="es-ES" smtClean="0"/>
              <a:t>30/09/2026</a:t>
            </a:fld>
            <a:endParaRPr lang="es-E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CC9704-F018-4BDF-B02D-0C4D5D4E0BE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55851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Visual on this slide was generated with Microsoft Copilot.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CC9704-F018-4BDF-B02D-0C4D5D4E0BE3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184383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VER">
    <p:bg>
      <p:bgPr>
        <a:solidFill>
          <a:srgbClr val="071A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7580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4e8f6b61c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071A29">
              <a:alpha val="95000"/>
            </a:srgbClr>
          </a:solidFill>
          <a:ln w="12700">
            <a:solidFill>
              <a:srgbClr val="071A2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1"/>
          <p:cNvSpPr/>
          <p:nvPr/>
        </p:nvSpPr>
        <p:spPr>
          <a:xfrm>
            <a:off x="4983480" y="0"/>
            <a:ext cx="1417320" cy="6858000"/>
          </a:xfrm>
          <a:prstGeom prst="rect">
            <a:avLst/>
          </a:prstGeom>
          <a:solidFill>
            <a:srgbClr val="071A29">
              <a:alpha val="45000"/>
            </a:srgbClr>
          </a:solidFill>
          <a:ln w="12700">
            <a:solidFill>
              <a:srgbClr val="071A2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2"/>
          <p:cNvSpPr/>
          <p:nvPr/>
        </p:nvSpPr>
        <p:spPr>
          <a:xfrm>
            <a:off x="713232" y="67665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D9BD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BI  /  BUSINESS INTELLIGENCE</a:t>
            </a:r>
            <a:endParaRPr lang="en-US" sz="1050" dirty="0">
              <a:solidFill>
                <a:srgbClr val="D9BDC5"/>
              </a:solidFill>
            </a:endParaRPr>
          </a:p>
        </p:txBody>
      </p:sp>
      <p:sp>
        <p:nvSpPr>
          <p:cNvPr id="6" name="Shape 3"/>
          <p:cNvSpPr/>
          <p:nvPr/>
        </p:nvSpPr>
        <p:spPr>
          <a:xfrm>
            <a:off x="713232" y="1060704"/>
            <a:ext cx="713232" cy="1"/>
          </a:xfrm>
          <a:prstGeom prst="line">
            <a:avLst/>
          </a:prstGeom>
          <a:noFill/>
          <a:ln w="38100">
            <a:solidFill>
              <a:srgbClr val="D9BDC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685800" y="1417320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OLIST</a:t>
            </a:r>
            <a:endParaRPr lang="en-US" sz="4500" dirty="0"/>
          </a:p>
        </p:txBody>
      </p:sp>
      <p:sp>
        <p:nvSpPr>
          <p:cNvPr id="8" name="Text 5"/>
          <p:cNvSpPr/>
          <p:nvPr/>
        </p:nvSpPr>
        <p:spPr>
          <a:xfrm>
            <a:off x="713232" y="2395728"/>
            <a:ext cx="4343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Análisis de ventas, clientes</a:t>
            </a:r>
            <a:endParaRPr lang="en-US" sz="2500" dirty="0"/>
          </a:p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 satisfacción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685800" y="373176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C6D3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E-commerce brasileño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31520" y="6153912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D9BD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PROYECTO DE ANÁLISIS DESCRIPTIVO</a:t>
            </a:r>
            <a:endParaRPr lang="en-US" sz="950" dirty="0">
              <a:solidFill>
                <a:srgbClr val="D9BDC5"/>
              </a:solidFill>
            </a:endParaRPr>
          </a:p>
        </p:txBody>
      </p:sp>
      <p:sp>
        <p:nvSpPr>
          <p:cNvPr id="11" name="Shape 8"/>
          <p:cNvSpPr/>
          <p:nvPr/>
        </p:nvSpPr>
        <p:spPr>
          <a:xfrm>
            <a:off x="475488" y="1417320"/>
            <a:ext cx="45720" cy="2103120"/>
          </a:xfrm>
          <a:prstGeom prst="rect">
            <a:avLst/>
          </a:prstGeom>
          <a:solidFill>
            <a:srgbClr val="72566A"/>
          </a:solidFill>
          <a:ln w="12700">
            <a:solidFill>
              <a:srgbClr val="72566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72566A"/>
          </a:solidFill>
          <a:ln>
            <a:solidFill>
              <a:srgbClr val="725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530352" y="6547104"/>
            <a:ext cx="2194560" cy="164592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lang="es-ES" sz="800" b="1" noProof="0" dirty="0">
                <a:solidFill>
                  <a:srgbClr val="666666"/>
                </a:solidFill>
                <a:latin typeface="Aptos"/>
              </a:rPr>
              <a:t>OLIST | POWER BI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72600" y="6547104"/>
            <a:ext cx="2240280" cy="164592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r"/>
            <a:r>
              <a:rPr lang="es-ES" sz="800" b="0" noProof="0" dirty="0">
                <a:solidFill>
                  <a:srgbClr val="666666"/>
                </a:solidFill>
                <a:latin typeface="Aptos"/>
              </a:rPr>
              <a:t>ANÁLISIS DESCRIPTIVO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457200" cy="182880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lang="es-ES" sz="900" b="1" noProof="0" dirty="0">
                <a:solidFill>
                  <a:srgbClr val="72566A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76656"/>
            <a:ext cx="10881360" cy="502920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lang="es-ES" sz="2700" b="1" noProof="0" dirty="0">
                <a:solidFill>
                  <a:srgbClr val="242424"/>
                </a:solidFill>
                <a:latin typeface="Aptos"/>
              </a:rPr>
              <a:t>Información del </a:t>
            </a:r>
            <a:r>
              <a:rPr lang="es-ES" sz="2700" b="1" noProof="0" dirty="0" err="1">
                <a:solidFill>
                  <a:srgbClr val="242424"/>
                </a:solidFill>
                <a:latin typeface="Aptos"/>
              </a:rPr>
              <a:t>dataset</a:t>
            </a:r>
            <a:endParaRPr lang="es-ES" sz="2700" b="1" noProof="0" dirty="0">
              <a:solidFill>
                <a:srgbClr val="242424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58368" y="1225296"/>
            <a:ext cx="10698480" cy="310896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lang="es-ES" sz="1300" b="0" noProof="0" dirty="0" err="1">
                <a:solidFill>
                  <a:srgbClr val="666666"/>
                </a:solidFill>
                <a:latin typeface="Aptos"/>
              </a:rPr>
              <a:t>Brazilian</a:t>
            </a:r>
            <a:r>
              <a:rPr lang="es-ES" sz="1300" b="0" noProof="0" dirty="0">
                <a:solidFill>
                  <a:srgbClr val="666666"/>
                </a:solidFill>
                <a:latin typeface="Aptos"/>
              </a:rPr>
              <a:t> E-Commerce Public </a:t>
            </a:r>
            <a:r>
              <a:rPr lang="es-ES" sz="1300" b="0" noProof="0" dirty="0" err="1">
                <a:solidFill>
                  <a:srgbClr val="666666"/>
                </a:solidFill>
                <a:latin typeface="Aptos"/>
              </a:rPr>
              <a:t>Dataset</a:t>
            </a:r>
            <a:r>
              <a:rPr lang="es-ES" sz="1300" b="0" noProof="0" dirty="0">
                <a:solidFill>
                  <a:srgbClr val="666666"/>
                </a:solidFill>
                <a:latin typeface="Aptos"/>
              </a:rPr>
              <a:t> </a:t>
            </a:r>
            <a:r>
              <a:rPr lang="es-ES" sz="1300" b="0" noProof="0" dirty="0" err="1">
                <a:solidFill>
                  <a:srgbClr val="666666"/>
                </a:solidFill>
                <a:latin typeface="Aptos"/>
              </a:rPr>
              <a:t>by</a:t>
            </a:r>
            <a:r>
              <a:rPr lang="es-ES" sz="1300" b="0" noProof="0" dirty="0">
                <a:solidFill>
                  <a:srgbClr val="666666"/>
                </a:solidFill>
                <a:latin typeface="Aptos"/>
              </a:rPr>
              <a:t> </a:t>
            </a:r>
            <a:r>
              <a:rPr lang="es-ES" sz="1300" b="0" noProof="0" dirty="0" err="1">
                <a:solidFill>
                  <a:srgbClr val="666666"/>
                </a:solidFill>
                <a:latin typeface="Aptos"/>
              </a:rPr>
              <a:t>Olist</a:t>
            </a:r>
            <a:endParaRPr lang="es-ES" sz="1300" b="0" noProof="0" dirty="0">
              <a:solidFill>
                <a:srgbClr val="666666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" y="1719072"/>
            <a:ext cx="2103120" cy="256032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lang="es-ES" sz="1600" b="1" noProof="0" dirty="0">
                <a:solidFill>
                  <a:srgbClr val="242424"/>
                </a:solidFill>
                <a:latin typeface="Aptos"/>
              </a:rPr>
              <a:t>¿Qué es </a:t>
            </a:r>
            <a:r>
              <a:rPr lang="es-ES" sz="1600" b="1" noProof="0" dirty="0" err="1">
                <a:solidFill>
                  <a:srgbClr val="242424"/>
                </a:solidFill>
                <a:latin typeface="Aptos"/>
              </a:rPr>
              <a:t>Olist</a:t>
            </a:r>
            <a:r>
              <a:rPr lang="es-ES" sz="1600" b="1" noProof="0" dirty="0">
                <a:solidFill>
                  <a:srgbClr val="242424"/>
                </a:solidFill>
                <a:latin typeface="Aptos"/>
              </a:rPr>
              <a:t>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799" y="2084831"/>
            <a:ext cx="4517137" cy="692497"/>
          </a:xfrm>
          <a:prstGeom prst="rect">
            <a:avLst/>
          </a:prstGeom>
          <a:noFill/>
        </p:spPr>
        <p:txBody>
          <a:bodyPr wrap="square" lIns="22860" tIns="22860" rIns="22860" bIns="22860" anchor="t">
            <a:spAutoFit/>
          </a:bodyPr>
          <a:lstStyle/>
          <a:p>
            <a:pPr algn="just"/>
            <a:r>
              <a:rPr lang="es-ES" sz="1400" b="0" noProof="0" dirty="0" err="1">
                <a:solidFill>
                  <a:srgbClr val="242424"/>
                </a:solidFill>
                <a:latin typeface="Aptos"/>
              </a:rPr>
              <a:t>Olist</a:t>
            </a:r>
            <a:r>
              <a:rPr lang="es-ES" sz="1400" b="0" noProof="0" dirty="0">
                <a:solidFill>
                  <a:srgbClr val="242424"/>
                </a:solidFill>
                <a:latin typeface="Aptos"/>
              </a:rPr>
              <a:t> es una plataforma brasileña de comercio electrónico que conecta pequeños comercios con distintos </a:t>
            </a:r>
            <a:r>
              <a:rPr lang="es-ES" sz="1400" b="0" noProof="0" dirty="0" err="1">
                <a:solidFill>
                  <a:srgbClr val="242424"/>
                </a:solidFill>
                <a:latin typeface="Aptos"/>
              </a:rPr>
              <a:t>marketplaces</a:t>
            </a:r>
            <a:r>
              <a:rPr lang="es-ES" sz="1400" b="0" noProof="0" dirty="0">
                <a:solidFill>
                  <a:srgbClr val="242424"/>
                </a:solidFill>
                <a:latin typeface="Aptos"/>
              </a:rPr>
              <a:t> y facilita la gestión de sus ventas online.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218688"/>
            <a:ext cx="2560320" cy="256032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lang="es-ES" sz="1600" b="1" noProof="0" dirty="0">
                <a:solidFill>
                  <a:srgbClr val="242424"/>
                </a:solidFill>
                <a:latin typeface="Aptos"/>
              </a:rPr>
              <a:t>¿Qué contiene el </a:t>
            </a:r>
            <a:r>
              <a:rPr lang="es-ES" sz="1600" b="1" noProof="0" dirty="0" err="1">
                <a:solidFill>
                  <a:srgbClr val="242424"/>
                </a:solidFill>
                <a:latin typeface="Aptos"/>
              </a:rPr>
              <a:t>dataset</a:t>
            </a:r>
            <a:r>
              <a:rPr lang="es-ES" sz="1600" b="1" noProof="0" dirty="0">
                <a:solidFill>
                  <a:srgbClr val="242424"/>
                </a:solidFill>
                <a:latin typeface="Aptos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584448"/>
            <a:ext cx="4517136" cy="692497"/>
          </a:xfrm>
          <a:prstGeom prst="rect">
            <a:avLst/>
          </a:prstGeom>
          <a:noFill/>
        </p:spPr>
        <p:txBody>
          <a:bodyPr wrap="square" lIns="22860" tIns="22860" rIns="22860" bIns="22860" anchor="t">
            <a:spAutoFit/>
          </a:bodyPr>
          <a:lstStyle/>
          <a:p>
            <a:pPr algn="just"/>
            <a:r>
              <a:rPr lang="es-ES" sz="1400" b="0" noProof="0" dirty="0">
                <a:solidFill>
                  <a:srgbClr val="242424"/>
                </a:solidFill>
                <a:latin typeface="Aptos"/>
              </a:rPr>
              <a:t>Datos reales y anonimizados sobre pedidos, clientes, productos, localización, entregas y valoraciones. El periodo analizado comprende de 2016 a 2018.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882896"/>
            <a:ext cx="1691640" cy="804672"/>
          </a:xfrm>
          <a:prstGeom prst="roundRect">
            <a:avLst/>
          </a:prstGeom>
          <a:solidFill>
            <a:srgbClr val="FAFAF9"/>
          </a:solidFill>
          <a:ln>
            <a:solidFill>
              <a:srgbClr val="E8E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3" name="Rectangle 12"/>
          <p:cNvSpPr/>
          <p:nvPr/>
        </p:nvSpPr>
        <p:spPr>
          <a:xfrm>
            <a:off x="685800" y="4882896"/>
            <a:ext cx="54864" cy="804672"/>
          </a:xfrm>
          <a:prstGeom prst="rect">
            <a:avLst/>
          </a:prstGeom>
          <a:solidFill>
            <a:srgbClr val="72566A"/>
          </a:solidFill>
          <a:ln>
            <a:solidFill>
              <a:srgbClr val="725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850392" y="5001768"/>
            <a:ext cx="1417320" cy="164592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lang="es-ES" sz="900" b="1" noProof="0" dirty="0">
                <a:solidFill>
                  <a:srgbClr val="666666"/>
                </a:solidFill>
                <a:latin typeface="Aptos"/>
              </a:rPr>
              <a:t>PEDIDOS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" y="5266944"/>
            <a:ext cx="1417320" cy="256032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lang="es-ES" sz="1900" b="1" noProof="0" dirty="0">
                <a:solidFill>
                  <a:srgbClr val="242424"/>
                </a:solidFill>
                <a:latin typeface="Aptos"/>
              </a:rPr>
              <a:t>99.441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60320" y="4882896"/>
            <a:ext cx="1691640" cy="804672"/>
          </a:xfrm>
          <a:prstGeom prst="roundRect">
            <a:avLst/>
          </a:prstGeom>
          <a:solidFill>
            <a:srgbClr val="FAFAF9"/>
          </a:solidFill>
          <a:ln>
            <a:solidFill>
              <a:srgbClr val="E8E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7" name="Rectangle 16"/>
          <p:cNvSpPr/>
          <p:nvPr/>
        </p:nvSpPr>
        <p:spPr>
          <a:xfrm>
            <a:off x="2560320" y="4882896"/>
            <a:ext cx="54864" cy="804672"/>
          </a:xfrm>
          <a:prstGeom prst="rect">
            <a:avLst/>
          </a:prstGeom>
          <a:solidFill>
            <a:srgbClr val="D9BDC5"/>
          </a:solidFill>
          <a:ln>
            <a:solidFill>
              <a:srgbClr val="D9BD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18" name="TextBox 17"/>
          <p:cNvSpPr txBox="1"/>
          <p:nvPr/>
        </p:nvSpPr>
        <p:spPr>
          <a:xfrm>
            <a:off x="2724912" y="5001768"/>
            <a:ext cx="1417320" cy="164592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lang="es-ES" sz="900" b="1" noProof="0" dirty="0">
                <a:solidFill>
                  <a:srgbClr val="666666"/>
                </a:solidFill>
                <a:latin typeface="Aptos"/>
              </a:rPr>
              <a:t>CLIENTES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24912" y="5266944"/>
            <a:ext cx="1417320" cy="256032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lang="es-ES" sz="1900" b="1" noProof="0" dirty="0">
                <a:solidFill>
                  <a:srgbClr val="242424"/>
                </a:solidFill>
                <a:latin typeface="Aptos"/>
              </a:rPr>
              <a:t>96.096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4882896"/>
            <a:ext cx="1691640" cy="804672"/>
          </a:xfrm>
          <a:prstGeom prst="roundRect">
            <a:avLst/>
          </a:prstGeom>
          <a:solidFill>
            <a:srgbClr val="FAFAF9"/>
          </a:solidFill>
          <a:ln>
            <a:solidFill>
              <a:srgbClr val="E8E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21" name="Rectangle 20"/>
          <p:cNvSpPr/>
          <p:nvPr/>
        </p:nvSpPr>
        <p:spPr>
          <a:xfrm>
            <a:off x="4434840" y="4882896"/>
            <a:ext cx="54864" cy="80467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22" name="TextBox 21"/>
          <p:cNvSpPr txBox="1"/>
          <p:nvPr/>
        </p:nvSpPr>
        <p:spPr>
          <a:xfrm>
            <a:off x="4599431" y="5001768"/>
            <a:ext cx="1417320" cy="164592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lang="es-ES" sz="900" b="1" noProof="0" dirty="0">
                <a:solidFill>
                  <a:srgbClr val="666666"/>
                </a:solidFill>
                <a:latin typeface="Aptos"/>
              </a:rPr>
              <a:t>PERIODO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9431" y="5266944"/>
            <a:ext cx="1417320" cy="256032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lang="es-ES" sz="1900" b="1" noProof="0" dirty="0">
                <a:solidFill>
                  <a:srgbClr val="242424"/>
                </a:solidFill>
                <a:latin typeface="Aptos"/>
              </a:rPr>
              <a:t>2016–2018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93408" y="1004826"/>
            <a:ext cx="2560320" cy="256032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lang="es-ES" sz="1600" b="1" noProof="0" dirty="0">
                <a:solidFill>
                  <a:srgbClr val="242424"/>
                </a:solidFill>
                <a:latin typeface="Aptos"/>
              </a:rPr>
              <a:t>Tablas del análisis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93408" y="1407162"/>
            <a:ext cx="4709160" cy="438912"/>
          </a:xfrm>
          <a:prstGeom prst="roundRect">
            <a:avLst/>
          </a:prstGeom>
          <a:solidFill>
            <a:srgbClr val="FAFAF9"/>
          </a:solidFill>
          <a:ln>
            <a:solidFill>
              <a:srgbClr val="E8E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26" name="TextBox 25"/>
          <p:cNvSpPr txBox="1"/>
          <p:nvPr/>
        </p:nvSpPr>
        <p:spPr>
          <a:xfrm>
            <a:off x="6867144" y="1498602"/>
            <a:ext cx="1508760" cy="182880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lang="es-ES" sz="1200" b="1" noProof="0" dirty="0" err="1">
                <a:solidFill>
                  <a:srgbClr val="72566A"/>
                </a:solidFill>
                <a:latin typeface="Aptos"/>
              </a:rPr>
              <a:t>Customers</a:t>
            </a:r>
            <a:endParaRPr lang="es-ES" sz="1200" b="1" noProof="0" dirty="0">
              <a:solidFill>
                <a:srgbClr val="72566A"/>
              </a:solidFill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494776" y="1498602"/>
            <a:ext cx="2606040" cy="182880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lang="es-ES" sz="1100" b="0" noProof="0" dirty="0">
                <a:solidFill>
                  <a:srgbClr val="666666"/>
                </a:solidFill>
                <a:latin typeface="Aptos"/>
              </a:rPr>
              <a:t>clientes y ubicación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93408" y="1992378"/>
            <a:ext cx="4709160" cy="438912"/>
          </a:xfrm>
          <a:prstGeom prst="roundRect">
            <a:avLst/>
          </a:prstGeom>
          <a:solidFill>
            <a:srgbClr val="FAFAF9"/>
          </a:solidFill>
          <a:ln>
            <a:solidFill>
              <a:srgbClr val="E8E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29" name="TextBox 28"/>
          <p:cNvSpPr txBox="1"/>
          <p:nvPr/>
        </p:nvSpPr>
        <p:spPr>
          <a:xfrm>
            <a:off x="6867144" y="2083818"/>
            <a:ext cx="1508760" cy="182880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lang="es-ES" sz="1200" b="1" noProof="0" dirty="0">
                <a:solidFill>
                  <a:srgbClr val="72566A"/>
                </a:solidFill>
                <a:latin typeface="Aptos"/>
              </a:rPr>
              <a:t>Orders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94776" y="2083818"/>
            <a:ext cx="2606040" cy="182880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lang="es-ES" sz="1100" b="0" noProof="0" dirty="0">
                <a:solidFill>
                  <a:srgbClr val="666666"/>
                </a:solidFill>
                <a:latin typeface="Aptos"/>
              </a:rPr>
              <a:t>pedidos, estado y fechas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93408" y="2577593"/>
            <a:ext cx="4709160" cy="438912"/>
          </a:xfrm>
          <a:prstGeom prst="roundRect">
            <a:avLst/>
          </a:prstGeom>
          <a:solidFill>
            <a:srgbClr val="FAFAF9"/>
          </a:solidFill>
          <a:ln>
            <a:solidFill>
              <a:srgbClr val="E8E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32" name="TextBox 31"/>
          <p:cNvSpPr txBox="1"/>
          <p:nvPr/>
        </p:nvSpPr>
        <p:spPr>
          <a:xfrm>
            <a:off x="6867144" y="2669033"/>
            <a:ext cx="1508760" cy="182880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lang="es-ES" sz="1200" b="1" noProof="0" dirty="0" err="1">
                <a:solidFill>
                  <a:srgbClr val="72566A"/>
                </a:solidFill>
                <a:latin typeface="Aptos"/>
              </a:rPr>
              <a:t>OrderItems</a:t>
            </a:r>
            <a:endParaRPr lang="es-ES" sz="1200" b="1" noProof="0" dirty="0">
              <a:solidFill>
                <a:srgbClr val="72566A"/>
              </a:solidFill>
              <a:latin typeface="Apto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494776" y="2669033"/>
            <a:ext cx="2606040" cy="182880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lang="es-ES" sz="1100" b="0" noProof="0" dirty="0">
                <a:solidFill>
                  <a:srgbClr val="666666"/>
                </a:solidFill>
                <a:latin typeface="Aptos"/>
              </a:rPr>
              <a:t>productos, precios y envío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693408" y="3162810"/>
            <a:ext cx="4709160" cy="438912"/>
          </a:xfrm>
          <a:prstGeom prst="roundRect">
            <a:avLst/>
          </a:prstGeom>
          <a:solidFill>
            <a:srgbClr val="FAFAF9"/>
          </a:solidFill>
          <a:ln>
            <a:solidFill>
              <a:srgbClr val="E8E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35" name="TextBox 34"/>
          <p:cNvSpPr txBox="1"/>
          <p:nvPr/>
        </p:nvSpPr>
        <p:spPr>
          <a:xfrm>
            <a:off x="6867144" y="3254250"/>
            <a:ext cx="1508760" cy="182880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lang="es-ES" sz="1200" b="1" noProof="0" dirty="0" err="1">
                <a:solidFill>
                  <a:srgbClr val="72566A"/>
                </a:solidFill>
                <a:latin typeface="Aptos"/>
              </a:rPr>
              <a:t>Products</a:t>
            </a:r>
            <a:endParaRPr lang="es-ES" sz="1200" b="1" noProof="0" dirty="0">
              <a:solidFill>
                <a:srgbClr val="72566A"/>
              </a:solidFill>
              <a:latin typeface="Apto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494776" y="3254250"/>
            <a:ext cx="2606040" cy="182880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lang="es-ES" sz="1100" b="0" noProof="0" dirty="0">
                <a:solidFill>
                  <a:srgbClr val="666666"/>
                </a:solidFill>
                <a:latin typeface="Aptos"/>
              </a:rPr>
              <a:t>información del producto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693408" y="3748026"/>
            <a:ext cx="4709160" cy="438912"/>
          </a:xfrm>
          <a:prstGeom prst="roundRect">
            <a:avLst/>
          </a:prstGeom>
          <a:solidFill>
            <a:srgbClr val="FAFAF9"/>
          </a:solidFill>
          <a:ln>
            <a:solidFill>
              <a:srgbClr val="E8E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38" name="TextBox 37"/>
          <p:cNvSpPr txBox="1"/>
          <p:nvPr/>
        </p:nvSpPr>
        <p:spPr>
          <a:xfrm>
            <a:off x="6867144" y="3839466"/>
            <a:ext cx="1508760" cy="182880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lang="es-ES" sz="1200" b="1" noProof="0" dirty="0" err="1">
                <a:solidFill>
                  <a:srgbClr val="72566A"/>
                </a:solidFill>
                <a:latin typeface="Aptos"/>
              </a:rPr>
              <a:t>Reviews</a:t>
            </a:r>
            <a:endParaRPr lang="es-ES" sz="1200" b="1" noProof="0" dirty="0">
              <a:solidFill>
                <a:srgbClr val="72566A"/>
              </a:solidFill>
              <a:latin typeface="Apto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494776" y="3839466"/>
            <a:ext cx="2606040" cy="182880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lang="es-ES" sz="1100" b="0" noProof="0" dirty="0">
                <a:solidFill>
                  <a:srgbClr val="666666"/>
                </a:solidFill>
                <a:latin typeface="Aptos"/>
              </a:rPr>
              <a:t>valoraciones de compra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693408" y="4333242"/>
            <a:ext cx="4709160" cy="438912"/>
          </a:xfrm>
          <a:prstGeom prst="roundRect">
            <a:avLst/>
          </a:prstGeom>
          <a:solidFill>
            <a:srgbClr val="FAFAF9"/>
          </a:solidFill>
          <a:ln>
            <a:solidFill>
              <a:srgbClr val="E8E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noProof="0" dirty="0"/>
          </a:p>
        </p:txBody>
      </p:sp>
      <p:sp>
        <p:nvSpPr>
          <p:cNvPr id="41" name="TextBox 40"/>
          <p:cNvSpPr txBox="1"/>
          <p:nvPr/>
        </p:nvSpPr>
        <p:spPr>
          <a:xfrm>
            <a:off x="6867144" y="4424681"/>
            <a:ext cx="1508760" cy="182880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lang="es-ES" sz="1200" b="1" noProof="0" dirty="0" err="1">
                <a:solidFill>
                  <a:srgbClr val="72566A"/>
                </a:solidFill>
                <a:latin typeface="Aptos"/>
              </a:rPr>
              <a:t>Categories</a:t>
            </a:r>
            <a:endParaRPr lang="es-ES" sz="1200" b="1" noProof="0" dirty="0">
              <a:solidFill>
                <a:srgbClr val="72566A"/>
              </a:solidFill>
              <a:latin typeface="Apto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494776" y="4424681"/>
            <a:ext cx="2606040" cy="182880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lang="es-ES" sz="1100" b="0" noProof="0" dirty="0">
                <a:solidFill>
                  <a:srgbClr val="666666"/>
                </a:solidFill>
                <a:latin typeface="Aptos"/>
              </a:rPr>
              <a:t>categorías traducidas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72566A"/>
          </a:solidFill>
          <a:ln>
            <a:solidFill>
              <a:srgbClr val="725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6547104"/>
            <a:ext cx="2194560" cy="164592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sz="800" b="1">
                <a:solidFill>
                  <a:srgbClr val="666666"/>
                </a:solidFill>
                <a:latin typeface="Aptos"/>
              </a:rPr>
              <a:t>OLIST | POWER BI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72600" y="6547104"/>
            <a:ext cx="2240280" cy="164592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r"/>
            <a:r>
              <a:rPr sz="800" b="0">
                <a:solidFill>
                  <a:srgbClr val="666666"/>
                </a:solidFill>
                <a:latin typeface="Aptos"/>
              </a:rPr>
              <a:t>ANÁLISIS DESCRIPTIVO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457200" cy="182880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sz="900" b="1">
                <a:solidFill>
                  <a:srgbClr val="72566A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76656"/>
            <a:ext cx="10881360" cy="502920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sz="2700" b="1">
                <a:solidFill>
                  <a:srgbClr val="242424"/>
                </a:solidFill>
                <a:latin typeface="Aptos"/>
              </a:rPr>
              <a:t>Objetivo del trabajo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225296"/>
            <a:ext cx="10698480" cy="310896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sz="1300" b="0" dirty="0" err="1">
                <a:solidFill>
                  <a:srgbClr val="666666"/>
                </a:solidFill>
                <a:latin typeface="Aptos"/>
              </a:rPr>
              <a:t>Convertir</a:t>
            </a:r>
            <a:r>
              <a:rPr sz="1300" b="0" dirty="0">
                <a:solidFill>
                  <a:srgbClr val="666666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666666"/>
                </a:solidFill>
                <a:latin typeface="Aptos"/>
              </a:rPr>
              <a:t>datos</a:t>
            </a:r>
            <a:r>
              <a:rPr sz="1300" b="0" dirty="0">
                <a:solidFill>
                  <a:srgbClr val="666666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666666"/>
                </a:solidFill>
                <a:latin typeface="Aptos"/>
              </a:rPr>
              <a:t>operativos</a:t>
            </a:r>
            <a:r>
              <a:rPr sz="1300" b="0" dirty="0">
                <a:solidFill>
                  <a:srgbClr val="666666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666666"/>
                </a:solidFill>
                <a:latin typeface="Aptos"/>
              </a:rPr>
              <a:t>en</a:t>
            </a:r>
            <a:r>
              <a:rPr sz="1300" b="0" dirty="0">
                <a:solidFill>
                  <a:srgbClr val="666666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666666"/>
                </a:solidFill>
                <a:latin typeface="Aptos"/>
              </a:rPr>
              <a:t>información</a:t>
            </a:r>
            <a:r>
              <a:rPr sz="1300" b="0" dirty="0">
                <a:solidFill>
                  <a:srgbClr val="666666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666666"/>
                </a:solidFill>
                <a:latin typeface="Aptos"/>
              </a:rPr>
              <a:t>útil</a:t>
            </a:r>
            <a:r>
              <a:rPr sz="1300" b="0" dirty="0">
                <a:solidFill>
                  <a:srgbClr val="666666"/>
                </a:solidFill>
                <a:latin typeface="Aptos"/>
              </a:rPr>
              <a:t> para la </a:t>
            </a:r>
            <a:r>
              <a:rPr sz="1300" b="0" dirty="0" err="1">
                <a:solidFill>
                  <a:srgbClr val="666666"/>
                </a:solidFill>
                <a:latin typeface="Aptos"/>
              </a:rPr>
              <a:t>toma</a:t>
            </a:r>
            <a:r>
              <a:rPr sz="1300" b="0" dirty="0">
                <a:solidFill>
                  <a:srgbClr val="666666"/>
                </a:solidFill>
                <a:latin typeface="Aptos"/>
              </a:rPr>
              <a:t> de </a:t>
            </a:r>
            <a:r>
              <a:rPr sz="1300" b="0" dirty="0" err="1">
                <a:solidFill>
                  <a:srgbClr val="666666"/>
                </a:solidFill>
                <a:latin typeface="Aptos"/>
              </a:rPr>
              <a:t>decisiones</a:t>
            </a:r>
            <a:endParaRPr sz="1300" b="0" dirty="0">
              <a:solidFill>
                <a:srgbClr val="666666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1755648"/>
            <a:ext cx="10744200" cy="1024128"/>
          </a:xfrm>
          <a:prstGeom prst="roundRect">
            <a:avLst/>
          </a:prstGeom>
          <a:solidFill>
            <a:srgbClr val="242424"/>
          </a:solidFill>
          <a:ln>
            <a:solidFill>
              <a:srgbClr val="2424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1933953"/>
            <a:ext cx="9675495" cy="630942"/>
          </a:xfrm>
          <a:prstGeom prst="rect">
            <a:avLst/>
          </a:prstGeom>
          <a:noFill/>
        </p:spPr>
        <p:txBody>
          <a:bodyPr wrap="square" lIns="22860" tIns="22860" rIns="22860" bIns="22860" anchor="ctr">
            <a:spAutoFit/>
          </a:bodyPr>
          <a:lstStyle/>
          <a:p>
            <a:pPr algn="ctr"/>
            <a:r>
              <a:rPr sz="1900" b="1" dirty="0" err="1">
                <a:solidFill>
                  <a:srgbClr val="FFFFFF"/>
                </a:solidFill>
                <a:latin typeface="Aptos"/>
              </a:rPr>
              <a:t>Analizar</a:t>
            </a:r>
            <a:r>
              <a:rPr sz="1900" b="1" dirty="0">
                <a:solidFill>
                  <a:srgbClr val="FFFFFF"/>
                </a:solidFill>
                <a:latin typeface="Aptos"/>
              </a:rPr>
              <a:t> el </a:t>
            </a:r>
            <a:r>
              <a:rPr sz="1900" b="1" dirty="0" err="1">
                <a:solidFill>
                  <a:srgbClr val="FFFFFF"/>
                </a:solidFill>
                <a:latin typeface="Aptos"/>
              </a:rPr>
              <a:t>rendimiento</a:t>
            </a:r>
            <a:r>
              <a:rPr sz="1900" b="1" dirty="0">
                <a:solidFill>
                  <a:srgbClr val="FFFFFF"/>
                </a:solidFill>
                <a:latin typeface="Aptos"/>
              </a:rPr>
              <a:t> </a:t>
            </a:r>
            <a:r>
              <a:rPr sz="1900" b="1" dirty="0" err="1">
                <a:solidFill>
                  <a:srgbClr val="FFFFFF"/>
                </a:solidFill>
                <a:latin typeface="Aptos"/>
              </a:rPr>
              <a:t>comercial</a:t>
            </a:r>
            <a:r>
              <a:rPr sz="1900" b="1" dirty="0">
                <a:solidFill>
                  <a:srgbClr val="FFFFFF"/>
                </a:solidFill>
                <a:latin typeface="Aptos"/>
              </a:rPr>
              <a:t> de </a:t>
            </a:r>
            <a:r>
              <a:rPr sz="1900" b="1" dirty="0" err="1">
                <a:solidFill>
                  <a:srgbClr val="FFFFFF"/>
                </a:solidFill>
                <a:latin typeface="Aptos"/>
              </a:rPr>
              <a:t>Olist</a:t>
            </a:r>
            <a:r>
              <a:rPr sz="1900" b="1" dirty="0">
                <a:solidFill>
                  <a:srgbClr val="FFFFFF"/>
                </a:solidFill>
                <a:latin typeface="Aptos"/>
              </a:rPr>
              <a:t>, la </a:t>
            </a:r>
            <a:r>
              <a:rPr sz="1900" b="1" dirty="0" err="1">
                <a:solidFill>
                  <a:srgbClr val="FFFFFF"/>
                </a:solidFill>
                <a:latin typeface="Aptos"/>
              </a:rPr>
              <a:t>concentración</a:t>
            </a:r>
            <a:r>
              <a:rPr sz="1900" b="1" dirty="0">
                <a:solidFill>
                  <a:srgbClr val="FFFFFF"/>
                </a:solidFill>
                <a:latin typeface="Aptos"/>
              </a:rPr>
              <a:t> </a:t>
            </a:r>
            <a:r>
              <a:rPr sz="1900" b="1" dirty="0" err="1">
                <a:solidFill>
                  <a:srgbClr val="FFFFFF"/>
                </a:solidFill>
                <a:latin typeface="Aptos"/>
              </a:rPr>
              <a:t>geográfica</a:t>
            </a:r>
            <a:r>
              <a:rPr sz="1900" b="1" dirty="0">
                <a:solidFill>
                  <a:srgbClr val="FFFFFF"/>
                </a:solidFill>
                <a:latin typeface="Aptos"/>
              </a:rPr>
              <a:t> de la </a:t>
            </a:r>
            <a:r>
              <a:rPr sz="1900" b="1" dirty="0" err="1">
                <a:solidFill>
                  <a:srgbClr val="FFFFFF"/>
                </a:solidFill>
                <a:latin typeface="Aptos"/>
              </a:rPr>
              <a:t>demanda</a:t>
            </a:r>
            <a:r>
              <a:rPr sz="1900" b="1" dirty="0">
                <a:solidFill>
                  <a:srgbClr val="FFFFFF"/>
                </a:solidFill>
                <a:latin typeface="Aptos"/>
              </a:rPr>
              <a:t> y la </a:t>
            </a:r>
            <a:r>
              <a:rPr sz="1900" b="1" dirty="0" err="1">
                <a:solidFill>
                  <a:srgbClr val="FFFFFF"/>
                </a:solidFill>
                <a:latin typeface="Aptos"/>
              </a:rPr>
              <a:t>satisfacción</a:t>
            </a:r>
            <a:r>
              <a:rPr sz="1900" b="1" dirty="0">
                <a:solidFill>
                  <a:srgbClr val="FFFFFF"/>
                </a:solidFill>
                <a:latin typeface="Aptos"/>
              </a:rPr>
              <a:t> del </a:t>
            </a:r>
            <a:r>
              <a:rPr sz="1900" b="1" dirty="0" err="1">
                <a:solidFill>
                  <a:srgbClr val="FFFFFF"/>
                </a:solidFill>
                <a:latin typeface="Aptos"/>
              </a:rPr>
              <a:t>cliente</a:t>
            </a:r>
            <a:r>
              <a:rPr sz="1900" b="1" dirty="0">
                <a:solidFill>
                  <a:srgbClr val="FFFFFF"/>
                </a:solidFill>
                <a:latin typeface="Aptos"/>
              </a:rPr>
              <a:t> para </a:t>
            </a:r>
            <a:r>
              <a:rPr sz="1900" b="1" dirty="0" err="1">
                <a:solidFill>
                  <a:srgbClr val="FFFFFF"/>
                </a:solidFill>
                <a:latin typeface="Aptos"/>
              </a:rPr>
              <a:t>identificar</a:t>
            </a:r>
            <a:r>
              <a:rPr sz="1900" b="1" dirty="0">
                <a:solidFill>
                  <a:srgbClr val="FFFFFF"/>
                </a:solidFill>
                <a:latin typeface="Aptos"/>
              </a:rPr>
              <a:t> </a:t>
            </a:r>
            <a:r>
              <a:rPr sz="1900" b="1" dirty="0" err="1">
                <a:solidFill>
                  <a:srgbClr val="FFFFFF"/>
                </a:solidFill>
                <a:latin typeface="Aptos"/>
              </a:rPr>
              <a:t>oportunidades</a:t>
            </a:r>
            <a:r>
              <a:rPr sz="1900" b="1" dirty="0">
                <a:solidFill>
                  <a:srgbClr val="FFFFFF"/>
                </a:solidFill>
                <a:latin typeface="Aptos"/>
              </a:rPr>
              <a:t> de </a:t>
            </a:r>
            <a:r>
              <a:rPr sz="1900" b="1" dirty="0" err="1">
                <a:solidFill>
                  <a:srgbClr val="FFFFFF"/>
                </a:solidFill>
                <a:latin typeface="Aptos"/>
              </a:rPr>
              <a:t>crecimiento</a:t>
            </a:r>
            <a:r>
              <a:rPr sz="1900" b="1" dirty="0">
                <a:solidFill>
                  <a:srgbClr val="FFFFFF"/>
                </a:solidFill>
                <a:latin typeface="Aptos"/>
              </a:rPr>
              <a:t> y </a:t>
            </a:r>
            <a:r>
              <a:rPr sz="1900" b="1" dirty="0" err="1">
                <a:solidFill>
                  <a:srgbClr val="FFFFFF"/>
                </a:solidFill>
                <a:latin typeface="Aptos"/>
              </a:rPr>
              <a:t>mejora</a:t>
            </a:r>
            <a:r>
              <a:rPr sz="1900" b="1" dirty="0">
                <a:solidFill>
                  <a:srgbClr val="FFFFFF"/>
                </a:solidFill>
                <a:latin typeface="Aptos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310128"/>
            <a:ext cx="2487168" cy="1572768"/>
          </a:xfrm>
          <a:prstGeom prst="roundRect">
            <a:avLst/>
          </a:prstGeom>
          <a:solidFill>
            <a:srgbClr val="FAFAF9"/>
          </a:solidFill>
          <a:ln>
            <a:solidFill>
              <a:srgbClr val="E8E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" y="3520440"/>
            <a:ext cx="384048" cy="182880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sz="1000" b="1">
                <a:solidFill>
                  <a:srgbClr val="72566A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822191"/>
            <a:ext cx="2057400" cy="219456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sz="1400" b="1">
                <a:solidFill>
                  <a:srgbClr val="242424"/>
                </a:solidFill>
                <a:latin typeface="Aptos"/>
              </a:rPr>
              <a:t>RENDIMIENTO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4187952"/>
            <a:ext cx="1837944" cy="415498"/>
          </a:xfrm>
          <a:prstGeom prst="rect">
            <a:avLst/>
          </a:prstGeom>
          <a:noFill/>
        </p:spPr>
        <p:txBody>
          <a:bodyPr wrap="square" lIns="22860" tIns="22860" rIns="22860" bIns="22860" anchor="t">
            <a:spAutoFit/>
          </a:bodyPr>
          <a:lstStyle/>
          <a:p>
            <a:pPr algn="l"/>
            <a:r>
              <a:rPr sz="1200" b="0" dirty="0">
                <a:solidFill>
                  <a:srgbClr val="666666"/>
                </a:solidFill>
                <a:latin typeface="Aptos"/>
              </a:rPr>
              <a:t>¿</a:t>
            </a:r>
            <a:r>
              <a:rPr sz="1200" b="0" dirty="0" err="1">
                <a:solidFill>
                  <a:srgbClr val="666666"/>
                </a:solidFill>
                <a:latin typeface="Aptos"/>
              </a:rPr>
              <a:t>Cuánto</a:t>
            </a:r>
            <a:r>
              <a:rPr sz="1200" b="0" dirty="0">
                <a:solidFill>
                  <a:srgbClr val="666666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66666"/>
                </a:solidFill>
                <a:latin typeface="Aptos"/>
              </a:rPr>
              <a:t>vende</a:t>
            </a:r>
            <a:r>
              <a:rPr sz="1200" b="0" dirty="0">
                <a:solidFill>
                  <a:srgbClr val="666666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66666"/>
                </a:solidFill>
                <a:latin typeface="Aptos"/>
              </a:rPr>
              <a:t>Olist</a:t>
            </a:r>
            <a:r>
              <a:rPr sz="1200" b="0" dirty="0">
                <a:solidFill>
                  <a:srgbClr val="666666"/>
                </a:solidFill>
                <a:latin typeface="Aptos"/>
              </a:rPr>
              <a:t> y </a:t>
            </a:r>
            <a:r>
              <a:rPr sz="1200" b="0" dirty="0" err="1">
                <a:solidFill>
                  <a:srgbClr val="666666"/>
                </a:solidFill>
                <a:latin typeface="Aptos"/>
              </a:rPr>
              <a:t>cómo</a:t>
            </a:r>
            <a:r>
              <a:rPr sz="1200" b="0" dirty="0">
                <a:solidFill>
                  <a:srgbClr val="666666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66666"/>
                </a:solidFill>
                <a:latin typeface="Aptos"/>
              </a:rPr>
              <a:t>evoluciona</a:t>
            </a:r>
            <a:r>
              <a:rPr sz="1200" b="0" dirty="0">
                <a:solidFill>
                  <a:srgbClr val="666666"/>
                </a:solidFill>
                <a:latin typeface="Aptos"/>
              </a:rPr>
              <a:t>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3310128"/>
            <a:ext cx="2487168" cy="1572768"/>
          </a:xfrm>
          <a:prstGeom prst="roundRect">
            <a:avLst/>
          </a:prstGeom>
          <a:solidFill>
            <a:srgbClr val="FAFAF9"/>
          </a:solidFill>
          <a:ln>
            <a:solidFill>
              <a:srgbClr val="E8E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30168" y="3520440"/>
            <a:ext cx="384048" cy="182880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sz="1000" b="1">
                <a:solidFill>
                  <a:srgbClr val="899487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0168" y="3822191"/>
            <a:ext cx="2057400" cy="219456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sz="1400" b="1">
                <a:solidFill>
                  <a:srgbClr val="242424"/>
                </a:solidFill>
                <a:latin typeface="Aptos"/>
              </a:rPr>
              <a:t>PRODUCTOS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0168" y="4187952"/>
            <a:ext cx="1965960" cy="415498"/>
          </a:xfrm>
          <a:prstGeom prst="rect">
            <a:avLst/>
          </a:prstGeom>
          <a:noFill/>
        </p:spPr>
        <p:txBody>
          <a:bodyPr wrap="square" lIns="22860" tIns="22860" rIns="22860" bIns="22860" anchor="t">
            <a:spAutoFit/>
          </a:bodyPr>
          <a:lstStyle/>
          <a:p>
            <a:pPr algn="l"/>
            <a:r>
              <a:rPr sz="1200" b="0" dirty="0">
                <a:solidFill>
                  <a:srgbClr val="666666"/>
                </a:solidFill>
                <a:latin typeface="Aptos"/>
              </a:rPr>
              <a:t>¿</a:t>
            </a:r>
            <a:r>
              <a:rPr sz="1200" b="0" dirty="0" err="1">
                <a:solidFill>
                  <a:srgbClr val="666666"/>
                </a:solidFill>
                <a:latin typeface="Aptos"/>
              </a:rPr>
              <a:t>Qué</a:t>
            </a:r>
            <a:r>
              <a:rPr sz="1200" b="0" dirty="0">
                <a:solidFill>
                  <a:srgbClr val="666666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66666"/>
                </a:solidFill>
                <a:latin typeface="Aptos"/>
              </a:rPr>
              <a:t>categorías</a:t>
            </a:r>
            <a:r>
              <a:rPr sz="1200" b="0" dirty="0">
                <a:solidFill>
                  <a:srgbClr val="666666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66666"/>
                </a:solidFill>
                <a:latin typeface="Aptos"/>
              </a:rPr>
              <a:t>generan</a:t>
            </a:r>
            <a:r>
              <a:rPr sz="1200" b="0" dirty="0">
                <a:solidFill>
                  <a:srgbClr val="666666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66666"/>
                </a:solidFill>
                <a:latin typeface="Aptos"/>
              </a:rPr>
              <a:t>más</a:t>
            </a:r>
            <a:r>
              <a:rPr sz="1200" b="0" dirty="0">
                <a:solidFill>
                  <a:srgbClr val="666666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66666"/>
                </a:solidFill>
                <a:latin typeface="Aptos"/>
              </a:rPr>
              <a:t>ingresos</a:t>
            </a:r>
            <a:r>
              <a:rPr sz="1200" b="0" dirty="0">
                <a:solidFill>
                  <a:srgbClr val="666666"/>
                </a:solidFill>
                <a:latin typeface="Aptos"/>
              </a:rPr>
              <a:t>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310128"/>
            <a:ext cx="2487168" cy="1572768"/>
          </a:xfrm>
          <a:prstGeom prst="roundRect">
            <a:avLst/>
          </a:prstGeom>
          <a:solidFill>
            <a:srgbClr val="FAFAF9"/>
          </a:solidFill>
          <a:ln>
            <a:solidFill>
              <a:srgbClr val="E8E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73368" y="3520440"/>
            <a:ext cx="384048" cy="182880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sz="1000" b="1">
                <a:solidFill>
                  <a:srgbClr val="B8955A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3822191"/>
            <a:ext cx="2057400" cy="219456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sz="1400" b="1">
                <a:solidFill>
                  <a:srgbClr val="242424"/>
                </a:solidFill>
                <a:latin typeface="Aptos"/>
              </a:rPr>
              <a:t>GEOGRAFÍA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3368" y="4187952"/>
            <a:ext cx="1965960" cy="415498"/>
          </a:xfrm>
          <a:prstGeom prst="rect">
            <a:avLst/>
          </a:prstGeom>
          <a:noFill/>
        </p:spPr>
        <p:txBody>
          <a:bodyPr wrap="square" lIns="22860" tIns="22860" rIns="22860" bIns="22860" anchor="t">
            <a:spAutoFit/>
          </a:bodyPr>
          <a:lstStyle/>
          <a:p>
            <a:pPr algn="l"/>
            <a:r>
              <a:rPr sz="1200" b="0" dirty="0">
                <a:solidFill>
                  <a:srgbClr val="666666"/>
                </a:solidFill>
                <a:latin typeface="Aptos"/>
              </a:rPr>
              <a:t>¿</a:t>
            </a:r>
            <a:r>
              <a:rPr sz="1200" b="0" dirty="0" err="1">
                <a:solidFill>
                  <a:srgbClr val="666666"/>
                </a:solidFill>
                <a:latin typeface="Aptos"/>
              </a:rPr>
              <a:t>Dónde</a:t>
            </a:r>
            <a:r>
              <a:rPr sz="1200" b="0" dirty="0">
                <a:solidFill>
                  <a:srgbClr val="666666"/>
                </a:solidFill>
                <a:latin typeface="Aptos"/>
              </a:rPr>
              <a:t> se </a:t>
            </a:r>
            <a:r>
              <a:rPr sz="1200" b="0" dirty="0" err="1">
                <a:solidFill>
                  <a:srgbClr val="666666"/>
                </a:solidFill>
                <a:latin typeface="Aptos"/>
              </a:rPr>
              <a:t>concentran</a:t>
            </a:r>
            <a:r>
              <a:rPr sz="1200" b="0" dirty="0">
                <a:solidFill>
                  <a:srgbClr val="666666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66666"/>
                </a:solidFill>
                <a:latin typeface="Aptos"/>
              </a:rPr>
              <a:t>ventas</a:t>
            </a:r>
            <a:r>
              <a:rPr sz="1200" b="0" dirty="0">
                <a:solidFill>
                  <a:srgbClr val="666666"/>
                </a:solidFill>
                <a:latin typeface="Aptos"/>
              </a:rPr>
              <a:t> y </a:t>
            </a:r>
            <a:r>
              <a:rPr sz="1200" b="0" dirty="0" err="1">
                <a:solidFill>
                  <a:srgbClr val="666666"/>
                </a:solidFill>
                <a:latin typeface="Aptos"/>
              </a:rPr>
              <a:t>clientes</a:t>
            </a:r>
            <a:r>
              <a:rPr sz="1200" b="0" dirty="0">
                <a:solidFill>
                  <a:srgbClr val="666666"/>
                </a:solidFill>
                <a:latin typeface="Aptos"/>
              </a:rPr>
              <a:t>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0" y="3310128"/>
            <a:ext cx="2487168" cy="1572768"/>
          </a:xfrm>
          <a:prstGeom prst="roundRect">
            <a:avLst/>
          </a:prstGeom>
          <a:solidFill>
            <a:srgbClr val="FAFAF9"/>
          </a:solidFill>
          <a:ln>
            <a:solidFill>
              <a:srgbClr val="E8E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16568" y="3520440"/>
            <a:ext cx="384048" cy="182880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sz="1000" b="1">
                <a:solidFill>
                  <a:srgbClr val="D9BDC5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16568" y="3822191"/>
            <a:ext cx="2057400" cy="219456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sz="1400" b="1">
                <a:solidFill>
                  <a:srgbClr val="242424"/>
                </a:solidFill>
                <a:latin typeface="Aptos"/>
              </a:rPr>
              <a:t>SATISFACCIÓN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16568" y="4187952"/>
            <a:ext cx="1938528" cy="415498"/>
          </a:xfrm>
          <a:prstGeom prst="rect">
            <a:avLst/>
          </a:prstGeom>
          <a:noFill/>
        </p:spPr>
        <p:txBody>
          <a:bodyPr wrap="square" lIns="22860" tIns="22860" rIns="22860" bIns="22860" anchor="t">
            <a:spAutoFit/>
          </a:bodyPr>
          <a:lstStyle/>
          <a:p>
            <a:pPr algn="l"/>
            <a:r>
              <a:rPr sz="1200" b="0" dirty="0">
                <a:solidFill>
                  <a:srgbClr val="666666"/>
                </a:solidFill>
                <a:latin typeface="Aptos"/>
              </a:rPr>
              <a:t>¿</a:t>
            </a:r>
            <a:r>
              <a:rPr sz="1200" b="0" dirty="0" err="1">
                <a:solidFill>
                  <a:srgbClr val="666666"/>
                </a:solidFill>
                <a:latin typeface="Aptos"/>
              </a:rPr>
              <a:t>Cómo</a:t>
            </a:r>
            <a:r>
              <a:rPr sz="1200" b="0" dirty="0">
                <a:solidFill>
                  <a:srgbClr val="666666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666666"/>
                </a:solidFill>
                <a:latin typeface="Aptos"/>
              </a:rPr>
              <a:t>valoran</a:t>
            </a:r>
            <a:r>
              <a:rPr sz="1200" b="0" dirty="0">
                <a:solidFill>
                  <a:srgbClr val="666666"/>
                </a:solidFill>
                <a:latin typeface="Aptos"/>
              </a:rPr>
              <a:t> sus </a:t>
            </a:r>
            <a:r>
              <a:rPr sz="1200" b="0" dirty="0" err="1">
                <a:solidFill>
                  <a:srgbClr val="666666"/>
                </a:solidFill>
                <a:latin typeface="Aptos"/>
              </a:rPr>
              <a:t>compras</a:t>
            </a:r>
            <a:r>
              <a:rPr sz="1200" b="0" dirty="0">
                <a:solidFill>
                  <a:srgbClr val="666666"/>
                </a:solidFill>
                <a:latin typeface="Aptos"/>
              </a:rPr>
              <a:t> y </a:t>
            </a:r>
            <a:r>
              <a:rPr sz="1200" b="0" dirty="0" err="1">
                <a:solidFill>
                  <a:srgbClr val="666666"/>
                </a:solidFill>
                <a:latin typeface="Aptos"/>
              </a:rPr>
              <a:t>entregas</a:t>
            </a:r>
            <a:r>
              <a:rPr sz="1200" b="0" dirty="0">
                <a:solidFill>
                  <a:srgbClr val="666666"/>
                </a:solidFill>
                <a:latin typeface="Aptos"/>
              </a:rPr>
              <a:t>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358384"/>
            <a:ext cx="10744200" cy="621792"/>
          </a:xfrm>
          <a:prstGeom prst="roundRect">
            <a:avLst/>
          </a:prstGeom>
          <a:solidFill>
            <a:srgbClr val="EFF2EE"/>
          </a:solidFill>
          <a:ln>
            <a:solidFill>
              <a:srgbClr val="EFF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42415" y="5532120"/>
            <a:ext cx="10104120" cy="274320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ctr"/>
            <a:r>
              <a:rPr sz="1500" b="1">
                <a:solidFill>
                  <a:srgbClr val="242424"/>
                </a:solidFill>
                <a:latin typeface="Aptos"/>
              </a:rPr>
              <a:t>Resultado esperado: identificar qué funciona, dónde se concentra el valor y qué debería mejorar Olist.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72566A"/>
          </a:solidFill>
          <a:ln>
            <a:solidFill>
              <a:srgbClr val="725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6547104"/>
            <a:ext cx="2194560" cy="164592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sz="800" b="1">
                <a:solidFill>
                  <a:srgbClr val="666666"/>
                </a:solidFill>
                <a:latin typeface="Aptos"/>
              </a:rPr>
              <a:t>OLIST | POWER BI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72600" y="6547104"/>
            <a:ext cx="2240280" cy="164592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r"/>
            <a:r>
              <a:rPr sz="800" b="0">
                <a:solidFill>
                  <a:srgbClr val="666666"/>
                </a:solidFill>
                <a:latin typeface="Aptos"/>
              </a:rPr>
              <a:t>ANÁLISIS DESCRIPTIVO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457200" cy="182880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sz="900" b="1">
                <a:solidFill>
                  <a:srgbClr val="72566A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76656"/>
            <a:ext cx="10881360" cy="502920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sz="2700" b="1">
                <a:solidFill>
                  <a:srgbClr val="242424"/>
                </a:solidFill>
                <a:latin typeface="Aptos"/>
              </a:rPr>
              <a:t>Procedimiento seguido y tablas utilizadas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225296"/>
            <a:ext cx="10698480" cy="310896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Aptos"/>
              </a:rPr>
              <a:t>Desde la preparación de los datos hasta la construcción del informe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91640"/>
            <a:ext cx="393192" cy="393192"/>
          </a:xfrm>
          <a:prstGeom prst="roundRect">
            <a:avLst/>
          </a:prstGeom>
          <a:solidFill>
            <a:srgbClr val="72566A"/>
          </a:solidFill>
          <a:ln>
            <a:solidFill>
              <a:srgbClr val="725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3816" y="1792224"/>
            <a:ext cx="146304" cy="146304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709928"/>
            <a:ext cx="1280160" cy="201168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sz="1300" b="1">
                <a:solidFill>
                  <a:srgbClr val="242424"/>
                </a:solidFill>
                <a:latin typeface="Aptos"/>
              </a:rPr>
              <a:t>Importación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1709928"/>
            <a:ext cx="1874519" cy="237744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Aptos"/>
              </a:rPr>
              <a:t>Carga de los seis CSV.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404872"/>
            <a:ext cx="393192" cy="393192"/>
          </a:xfrm>
          <a:prstGeom prst="roundRect">
            <a:avLst/>
          </a:prstGeom>
          <a:solidFill>
            <a:srgbClr val="72566A"/>
          </a:solidFill>
          <a:ln>
            <a:solidFill>
              <a:srgbClr val="725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3816" y="2505456"/>
            <a:ext cx="146304" cy="146304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423160"/>
            <a:ext cx="1280160" cy="201168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sz="1300" b="1">
                <a:solidFill>
                  <a:srgbClr val="242424"/>
                </a:solidFill>
                <a:latin typeface="Aptos"/>
              </a:rPr>
              <a:t>Power Query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2423160"/>
            <a:ext cx="1874519" cy="237744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Aptos"/>
              </a:rPr>
              <a:t>Tipos, nulos y columnas.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118104"/>
            <a:ext cx="393192" cy="393192"/>
          </a:xfrm>
          <a:prstGeom prst="roundRect">
            <a:avLst/>
          </a:prstGeom>
          <a:solidFill>
            <a:srgbClr val="72566A"/>
          </a:solidFill>
          <a:ln>
            <a:solidFill>
              <a:srgbClr val="725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3816" y="3218688"/>
            <a:ext cx="146304" cy="146304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136392"/>
            <a:ext cx="1280160" cy="201168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sz="1300" b="1">
                <a:solidFill>
                  <a:srgbClr val="242424"/>
                </a:solidFill>
                <a:latin typeface="Aptos"/>
              </a:rPr>
              <a:t>Modelo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3136392"/>
            <a:ext cx="1874519" cy="237744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Aptos"/>
              </a:rPr>
              <a:t>Claves y relaciones.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831335"/>
            <a:ext cx="393192" cy="393192"/>
          </a:xfrm>
          <a:prstGeom prst="roundRect">
            <a:avLst/>
          </a:prstGeom>
          <a:solidFill>
            <a:srgbClr val="72566A"/>
          </a:solidFill>
          <a:ln>
            <a:solidFill>
              <a:srgbClr val="725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3816" y="3931920"/>
            <a:ext cx="146304" cy="146304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849623"/>
            <a:ext cx="1280160" cy="201168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sz="1300" b="1">
                <a:solidFill>
                  <a:srgbClr val="242424"/>
                </a:solidFill>
                <a:latin typeface="Aptos"/>
              </a:rPr>
              <a:t>Medidas DAX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3849623"/>
            <a:ext cx="1874519" cy="237744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Aptos"/>
              </a:rPr>
              <a:t>KPIs principales.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544568"/>
            <a:ext cx="393192" cy="393192"/>
          </a:xfrm>
          <a:prstGeom prst="roundRect">
            <a:avLst/>
          </a:prstGeom>
          <a:solidFill>
            <a:srgbClr val="72566A"/>
          </a:solidFill>
          <a:ln>
            <a:solidFill>
              <a:srgbClr val="725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13816" y="4645152"/>
            <a:ext cx="146304" cy="146304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4562856"/>
            <a:ext cx="1280160" cy="201168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sz="1300" b="1">
                <a:solidFill>
                  <a:srgbClr val="242424"/>
                </a:solidFill>
                <a:latin typeface="Aptos"/>
              </a:rPr>
              <a:t>Visualización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51760" y="4562856"/>
            <a:ext cx="1874519" cy="237744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Aptos"/>
              </a:rPr>
              <a:t>Gráficos, mapa y filtros.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394960"/>
            <a:ext cx="2560320" cy="256032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sz="1500" b="1">
                <a:solidFill>
                  <a:srgbClr val="242424"/>
                </a:solidFill>
                <a:latin typeface="Aptos"/>
              </a:rPr>
              <a:t>Nuevas columnas creadas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5788152"/>
            <a:ext cx="1024128" cy="384048"/>
          </a:xfrm>
          <a:prstGeom prst="roundRect">
            <a:avLst/>
          </a:prstGeom>
          <a:solidFill>
            <a:srgbClr val="F3EEF1"/>
          </a:solidFill>
          <a:ln>
            <a:solidFill>
              <a:srgbClr val="F3EE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58952" y="5897880"/>
            <a:ext cx="877824" cy="146304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ctr"/>
            <a:r>
              <a:rPr sz="900" b="1">
                <a:solidFill>
                  <a:srgbClr val="72566A"/>
                </a:solidFill>
                <a:latin typeface="Aptos"/>
              </a:rPr>
              <a:t>FechaCompra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837943" y="5788152"/>
            <a:ext cx="1024128" cy="384048"/>
          </a:xfrm>
          <a:prstGeom prst="roundRect">
            <a:avLst/>
          </a:prstGeom>
          <a:solidFill>
            <a:srgbClr val="F3EEF1"/>
          </a:solidFill>
          <a:ln>
            <a:solidFill>
              <a:srgbClr val="F3EE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911095" y="5897880"/>
            <a:ext cx="877824" cy="146304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ctr"/>
            <a:r>
              <a:rPr sz="900" b="1">
                <a:solidFill>
                  <a:srgbClr val="72566A"/>
                </a:solidFill>
                <a:latin typeface="Aptos"/>
              </a:rPr>
              <a:t>DiasEntrega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990088" y="5788152"/>
            <a:ext cx="1024128" cy="384048"/>
          </a:xfrm>
          <a:prstGeom prst="roundRect">
            <a:avLst/>
          </a:prstGeom>
          <a:solidFill>
            <a:srgbClr val="F3EEF1"/>
          </a:solidFill>
          <a:ln>
            <a:solidFill>
              <a:srgbClr val="F3EE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063240" y="5897880"/>
            <a:ext cx="877824" cy="146304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ctr"/>
            <a:r>
              <a:rPr sz="900" b="1">
                <a:solidFill>
                  <a:srgbClr val="72566A"/>
                </a:solidFill>
                <a:latin typeface="Aptos"/>
              </a:rPr>
              <a:t>DiasRetraso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142232" y="5788152"/>
            <a:ext cx="1024128" cy="384048"/>
          </a:xfrm>
          <a:prstGeom prst="roundRect">
            <a:avLst/>
          </a:prstGeom>
          <a:solidFill>
            <a:srgbClr val="F3EEF1"/>
          </a:solidFill>
          <a:ln>
            <a:solidFill>
              <a:srgbClr val="F3EE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215384" y="5897880"/>
            <a:ext cx="877824" cy="146304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ctr"/>
            <a:r>
              <a:rPr sz="900" b="1">
                <a:solidFill>
                  <a:srgbClr val="72566A"/>
                </a:solidFill>
                <a:latin typeface="Aptos"/>
              </a:rPr>
              <a:t>EstadoEntrega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294376" y="5788152"/>
            <a:ext cx="1024128" cy="384048"/>
          </a:xfrm>
          <a:prstGeom prst="roundRect">
            <a:avLst/>
          </a:prstGeom>
          <a:solidFill>
            <a:srgbClr val="F3EEF1"/>
          </a:solidFill>
          <a:ln>
            <a:solidFill>
              <a:srgbClr val="F3EE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367528" y="5897880"/>
            <a:ext cx="877824" cy="146304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ctr"/>
            <a:r>
              <a:rPr sz="900" b="1">
                <a:solidFill>
                  <a:srgbClr val="72566A"/>
                </a:solidFill>
                <a:latin typeface="Aptos"/>
              </a:rPr>
              <a:t>EstadoBrasil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84264" y="1691640"/>
            <a:ext cx="2194560" cy="256032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sz="1600" b="1">
                <a:solidFill>
                  <a:srgbClr val="242424"/>
                </a:solidFill>
                <a:latin typeface="Aptos"/>
              </a:rPr>
              <a:t>Tablas y función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684264" y="2084831"/>
            <a:ext cx="4709160" cy="457200"/>
          </a:xfrm>
          <a:prstGeom prst="roundRect">
            <a:avLst/>
          </a:prstGeom>
          <a:solidFill>
            <a:srgbClr val="FAFAF9"/>
          </a:solidFill>
          <a:ln>
            <a:solidFill>
              <a:srgbClr val="E8E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867144" y="2185415"/>
            <a:ext cx="1783080" cy="182880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sz="1200" b="1">
                <a:solidFill>
                  <a:srgbClr val="72566A"/>
                </a:solidFill>
                <a:latin typeface="Aptos"/>
              </a:rPr>
              <a:t>Customers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33104" y="2185415"/>
            <a:ext cx="2148840" cy="182880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Aptos"/>
              </a:rPr>
              <a:t>geografía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684264" y="2706624"/>
            <a:ext cx="4709160" cy="457200"/>
          </a:xfrm>
          <a:prstGeom prst="roundRect">
            <a:avLst/>
          </a:prstGeom>
          <a:solidFill>
            <a:srgbClr val="FAFAF9"/>
          </a:solidFill>
          <a:ln>
            <a:solidFill>
              <a:srgbClr val="E8E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867144" y="2807208"/>
            <a:ext cx="1783080" cy="182880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sz="1200" b="1">
                <a:solidFill>
                  <a:srgbClr val="72566A"/>
                </a:solidFill>
                <a:latin typeface="Aptos"/>
              </a:rPr>
              <a:t>Orders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33104" y="2807208"/>
            <a:ext cx="2148840" cy="182880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Aptos"/>
              </a:rPr>
              <a:t>pedidos y fechas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684264" y="3328415"/>
            <a:ext cx="4709160" cy="457200"/>
          </a:xfrm>
          <a:prstGeom prst="roundRect">
            <a:avLst/>
          </a:prstGeom>
          <a:solidFill>
            <a:srgbClr val="FAFAF9"/>
          </a:solidFill>
          <a:ln>
            <a:solidFill>
              <a:srgbClr val="E8E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867144" y="3428999"/>
            <a:ext cx="1783080" cy="182880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sz="1200" b="1">
                <a:solidFill>
                  <a:srgbClr val="72566A"/>
                </a:solidFill>
                <a:latin typeface="Aptos"/>
              </a:rPr>
              <a:t>OrderItems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33104" y="3428999"/>
            <a:ext cx="2148840" cy="182880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Aptos"/>
              </a:rPr>
              <a:t>ventas y productos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684264" y="3950208"/>
            <a:ext cx="4709160" cy="457200"/>
          </a:xfrm>
          <a:prstGeom prst="roundRect">
            <a:avLst/>
          </a:prstGeom>
          <a:solidFill>
            <a:srgbClr val="FAFAF9"/>
          </a:solidFill>
          <a:ln>
            <a:solidFill>
              <a:srgbClr val="E8E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867144" y="4050792"/>
            <a:ext cx="1783080" cy="182880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sz="1200" b="1">
                <a:solidFill>
                  <a:srgbClr val="72566A"/>
                </a:solidFill>
                <a:latin typeface="Aptos"/>
              </a:rPr>
              <a:t>Products + Categories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33104" y="4050792"/>
            <a:ext cx="2148840" cy="182880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Aptos"/>
              </a:rPr>
              <a:t>categorías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684264" y="4572000"/>
            <a:ext cx="4709160" cy="457200"/>
          </a:xfrm>
          <a:prstGeom prst="roundRect">
            <a:avLst/>
          </a:prstGeom>
          <a:solidFill>
            <a:srgbClr val="FAFAF9"/>
          </a:solidFill>
          <a:ln>
            <a:solidFill>
              <a:srgbClr val="E8E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867144" y="4672584"/>
            <a:ext cx="1783080" cy="182880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sz="1200" b="1">
                <a:solidFill>
                  <a:srgbClr val="72566A"/>
                </a:solidFill>
                <a:latin typeface="Aptos"/>
              </a:rPr>
              <a:t>Reviews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833104" y="4672584"/>
            <a:ext cx="2148840" cy="182880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Aptos"/>
              </a:rPr>
              <a:t>satisfacción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684264" y="5440680"/>
            <a:ext cx="4709160" cy="749808"/>
          </a:xfrm>
          <a:prstGeom prst="roundRect">
            <a:avLst/>
          </a:prstGeom>
          <a:solidFill>
            <a:srgbClr val="F5F0E7"/>
          </a:solidFill>
          <a:ln>
            <a:solidFill>
              <a:srgbClr val="F5F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912864" y="5614416"/>
            <a:ext cx="1691640" cy="182880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sz="1000" b="1">
                <a:solidFill>
                  <a:srgbClr val="B8955A"/>
                </a:solidFill>
                <a:latin typeface="Aptos"/>
              </a:rPr>
              <a:t>Qué aportan las columnas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73084" y="5534799"/>
            <a:ext cx="2468880" cy="553998"/>
          </a:xfrm>
          <a:prstGeom prst="rect">
            <a:avLst/>
          </a:prstGeom>
          <a:noFill/>
        </p:spPr>
        <p:txBody>
          <a:bodyPr wrap="square" lIns="22860" tIns="22860" rIns="22860" bIns="22860" anchor="t">
            <a:spAutoFit/>
          </a:bodyPr>
          <a:lstStyle/>
          <a:p>
            <a:pPr algn="l"/>
            <a:r>
              <a:rPr sz="1100" b="0" dirty="0" err="1">
                <a:solidFill>
                  <a:srgbClr val="242424"/>
                </a:solidFill>
                <a:latin typeface="Aptos"/>
              </a:rPr>
              <a:t>Permiten</a:t>
            </a:r>
            <a:r>
              <a:rPr sz="1100" b="0" dirty="0">
                <a:solidFill>
                  <a:srgbClr val="242424"/>
                </a:solidFill>
                <a:latin typeface="Aptos"/>
              </a:rPr>
              <a:t> </a:t>
            </a:r>
            <a:r>
              <a:rPr sz="1100" b="0" dirty="0" err="1">
                <a:solidFill>
                  <a:srgbClr val="242424"/>
                </a:solidFill>
                <a:latin typeface="Aptos"/>
              </a:rPr>
              <a:t>analizar</a:t>
            </a:r>
            <a:r>
              <a:rPr sz="1100" b="0" dirty="0">
                <a:solidFill>
                  <a:srgbClr val="242424"/>
                </a:solidFill>
                <a:latin typeface="Aptos"/>
              </a:rPr>
              <a:t> el </a:t>
            </a:r>
            <a:r>
              <a:rPr sz="1100" b="0" dirty="0" err="1">
                <a:solidFill>
                  <a:srgbClr val="242424"/>
                </a:solidFill>
                <a:latin typeface="Aptos"/>
              </a:rPr>
              <a:t>tiempo</a:t>
            </a:r>
            <a:r>
              <a:rPr sz="1100" b="0" dirty="0">
                <a:solidFill>
                  <a:srgbClr val="242424"/>
                </a:solidFill>
                <a:latin typeface="Aptos"/>
              </a:rPr>
              <a:t> de </a:t>
            </a:r>
            <a:r>
              <a:rPr sz="1100" b="0" dirty="0" err="1">
                <a:solidFill>
                  <a:srgbClr val="242424"/>
                </a:solidFill>
                <a:latin typeface="Aptos"/>
              </a:rPr>
              <a:t>entrega</a:t>
            </a:r>
            <a:r>
              <a:rPr sz="1100" b="0" dirty="0">
                <a:solidFill>
                  <a:srgbClr val="242424"/>
                </a:solidFill>
                <a:latin typeface="Aptos"/>
              </a:rPr>
              <a:t>, </a:t>
            </a:r>
            <a:r>
              <a:rPr sz="1100" b="0" dirty="0" err="1">
                <a:solidFill>
                  <a:srgbClr val="242424"/>
                </a:solidFill>
                <a:latin typeface="Aptos"/>
              </a:rPr>
              <a:t>los</a:t>
            </a:r>
            <a:r>
              <a:rPr sz="1100" b="0" dirty="0">
                <a:solidFill>
                  <a:srgbClr val="242424"/>
                </a:solidFill>
                <a:latin typeface="Aptos"/>
              </a:rPr>
              <a:t> </a:t>
            </a:r>
            <a:r>
              <a:rPr sz="1100" b="0" dirty="0" err="1">
                <a:solidFill>
                  <a:srgbClr val="242424"/>
                </a:solidFill>
                <a:latin typeface="Aptos"/>
              </a:rPr>
              <a:t>retrasos</a:t>
            </a:r>
            <a:r>
              <a:rPr sz="1100" b="0" dirty="0">
                <a:solidFill>
                  <a:srgbClr val="242424"/>
                </a:solidFill>
                <a:latin typeface="Aptos"/>
              </a:rPr>
              <a:t> y </a:t>
            </a:r>
            <a:r>
              <a:rPr sz="1100" b="0" dirty="0" err="1">
                <a:solidFill>
                  <a:srgbClr val="242424"/>
                </a:solidFill>
                <a:latin typeface="Aptos"/>
              </a:rPr>
              <a:t>localizar</a:t>
            </a:r>
            <a:r>
              <a:rPr sz="1100" b="0" dirty="0">
                <a:solidFill>
                  <a:srgbClr val="242424"/>
                </a:solidFill>
                <a:latin typeface="Aptos"/>
              </a:rPr>
              <a:t> </a:t>
            </a:r>
            <a:r>
              <a:rPr sz="1100" b="0" dirty="0" err="1">
                <a:solidFill>
                  <a:srgbClr val="242424"/>
                </a:solidFill>
                <a:latin typeface="Aptos"/>
              </a:rPr>
              <a:t>correctamente</a:t>
            </a:r>
            <a:r>
              <a:rPr sz="1100" b="0" dirty="0">
                <a:solidFill>
                  <a:srgbClr val="242424"/>
                </a:solidFill>
                <a:latin typeface="Aptos"/>
              </a:rPr>
              <a:t> </a:t>
            </a:r>
            <a:r>
              <a:rPr sz="1100" b="0" dirty="0" err="1">
                <a:solidFill>
                  <a:srgbClr val="242424"/>
                </a:solidFill>
                <a:latin typeface="Aptos"/>
              </a:rPr>
              <a:t>los</a:t>
            </a:r>
            <a:r>
              <a:rPr sz="1100" b="0" dirty="0">
                <a:solidFill>
                  <a:srgbClr val="242424"/>
                </a:solidFill>
                <a:latin typeface="Aptos"/>
              </a:rPr>
              <a:t> </a:t>
            </a:r>
            <a:r>
              <a:rPr sz="1100" b="0" dirty="0" err="1">
                <a:solidFill>
                  <a:srgbClr val="242424"/>
                </a:solidFill>
                <a:latin typeface="Aptos"/>
              </a:rPr>
              <a:t>estados</a:t>
            </a:r>
            <a:r>
              <a:rPr sz="1100" b="0" dirty="0">
                <a:solidFill>
                  <a:srgbClr val="242424"/>
                </a:solidFill>
                <a:latin typeface="Aptos"/>
              </a:rPr>
              <a:t> de </a:t>
            </a:r>
            <a:r>
              <a:rPr sz="1100" b="0" dirty="0" err="1">
                <a:solidFill>
                  <a:srgbClr val="242424"/>
                </a:solidFill>
                <a:latin typeface="Aptos"/>
              </a:rPr>
              <a:t>Brasil</a:t>
            </a:r>
            <a:r>
              <a:rPr sz="1100" b="0" dirty="0">
                <a:solidFill>
                  <a:srgbClr val="242424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72566A"/>
          </a:solidFill>
          <a:ln>
            <a:solidFill>
              <a:srgbClr val="725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6547104"/>
            <a:ext cx="2194560" cy="164592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sz="800" b="1">
                <a:solidFill>
                  <a:srgbClr val="666666"/>
                </a:solidFill>
                <a:latin typeface="Aptos"/>
              </a:rPr>
              <a:t>OLIST | POWER BI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72600" y="6547104"/>
            <a:ext cx="2240280" cy="164592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r"/>
            <a:r>
              <a:rPr sz="800" b="0">
                <a:solidFill>
                  <a:srgbClr val="666666"/>
                </a:solidFill>
                <a:latin typeface="Aptos"/>
              </a:rPr>
              <a:t>ANÁLISIS DESCRIPTIVO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457200" cy="182880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sz="900" b="1">
                <a:solidFill>
                  <a:srgbClr val="72566A"/>
                </a:solidFill>
                <a:latin typeface="Apto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76656"/>
            <a:ext cx="7070462" cy="461665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sz="2700" b="1" dirty="0">
                <a:solidFill>
                  <a:srgbClr val="242424"/>
                </a:solidFill>
                <a:latin typeface="Aptos"/>
              </a:rPr>
              <a:t>Página 1 · </a:t>
            </a:r>
            <a:r>
              <a:rPr lang="en-US" sz="2700" b="1" dirty="0" err="1">
                <a:solidFill>
                  <a:srgbClr val="242424"/>
                </a:solidFill>
                <a:latin typeface="Aptos"/>
              </a:rPr>
              <a:t>Análisis</a:t>
            </a:r>
            <a:r>
              <a:rPr lang="en-US" sz="2700" b="1" dirty="0">
                <a:solidFill>
                  <a:srgbClr val="242424"/>
                </a:solidFill>
                <a:latin typeface="Aptos"/>
              </a:rPr>
              <a:t> KPIs y </a:t>
            </a:r>
            <a:r>
              <a:rPr lang="en-US" sz="2700" b="1" dirty="0" err="1">
                <a:solidFill>
                  <a:srgbClr val="242424"/>
                </a:solidFill>
                <a:latin typeface="Aptos"/>
              </a:rPr>
              <a:t>evolución</a:t>
            </a:r>
            <a:r>
              <a:rPr lang="en-US" sz="2700" b="1" dirty="0">
                <a:solidFill>
                  <a:srgbClr val="242424"/>
                </a:solidFill>
                <a:latin typeface="Aptos"/>
              </a:rPr>
              <a:t> de </a:t>
            </a:r>
            <a:r>
              <a:rPr lang="en-US" sz="2700" b="1" dirty="0" err="1">
                <a:solidFill>
                  <a:srgbClr val="242424"/>
                </a:solidFill>
                <a:latin typeface="Aptos"/>
              </a:rPr>
              <a:t>ventas</a:t>
            </a:r>
            <a:endParaRPr sz="2700" b="1" dirty="0">
              <a:solidFill>
                <a:srgbClr val="242424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58368" y="1225296"/>
            <a:ext cx="10698480" cy="310896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Aptos"/>
              </a:rPr>
              <a:t>Visión general del rendimiento del negocio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56832" y="2103120"/>
            <a:ext cx="4425696" cy="1417320"/>
          </a:xfrm>
          <a:prstGeom prst="roundRect">
            <a:avLst/>
          </a:prstGeom>
          <a:solidFill>
            <a:srgbClr val="FAFAF9"/>
          </a:solidFill>
          <a:ln>
            <a:solidFill>
              <a:srgbClr val="E8E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903720" y="2331720"/>
            <a:ext cx="1097280" cy="182880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sz="1000" b="1">
                <a:solidFill>
                  <a:srgbClr val="72566A"/>
                </a:solidFill>
                <a:latin typeface="Aptos"/>
              </a:rPr>
              <a:t>QUÉ SE 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2697480"/>
            <a:ext cx="3995928" cy="477054"/>
          </a:xfrm>
          <a:prstGeom prst="rect">
            <a:avLst/>
          </a:prstGeom>
          <a:noFill/>
        </p:spPr>
        <p:txBody>
          <a:bodyPr wrap="square" lIns="22860" tIns="22860" rIns="22860" bIns="22860" anchor="t">
            <a:spAutoFit/>
          </a:bodyPr>
          <a:lstStyle/>
          <a:p>
            <a:pPr algn="l"/>
            <a:r>
              <a:rPr sz="1400" b="0" dirty="0">
                <a:solidFill>
                  <a:srgbClr val="242424"/>
                </a:solidFill>
                <a:latin typeface="Aptos"/>
              </a:rPr>
              <a:t>Cinco KPIs y un </a:t>
            </a:r>
            <a:r>
              <a:rPr sz="1400" b="0" dirty="0" err="1">
                <a:solidFill>
                  <a:srgbClr val="242424"/>
                </a:solidFill>
                <a:latin typeface="Aptos"/>
              </a:rPr>
              <a:t>gráfico</a:t>
            </a:r>
            <a:r>
              <a:rPr sz="1400" b="0" dirty="0">
                <a:solidFill>
                  <a:srgbClr val="242424"/>
                </a:solidFill>
                <a:latin typeface="Aptos"/>
              </a:rPr>
              <a:t> temporal </a:t>
            </a:r>
            <a:r>
              <a:rPr sz="1400" b="0" dirty="0" err="1">
                <a:solidFill>
                  <a:srgbClr val="242424"/>
                </a:solidFill>
                <a:latin typeface="Aptos"/>
              </a:rPr>
              <a:t>resumen</a:t>
            </a:r>
            <a:r>
              <a:rPr sz="1400" b="0" dirty="0">
                <a:solidFill>
                  <a:srgbClr val="242424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242424"/>
                </a:solidFill>
                <a:latin typeface="Aptos"/>
              </a:rPr>
              <a:t>ventas</a:t>
            </a:r>
            <a:r>
              <a:rPr sz="1400" b="0" dirty="0">
                <a:solidFill>
                  <a:srgbClr val="242424"/>
                </a:solidFill>
                <a:latin typeface="Aptos"/>
              </a:rPr>
              <a:t>, </a:t>
            </a:r>
            <a:r>
              <a:rPr sz="1400" b="0" dirty="0" err="1">
                <a:solidFill>
                  <a:srgbClr val="242424"/>
                </a:solidFill>
                <a:latin typeface="Aptos"/>
              </a:rPr>
              <a:t>pedidos</a:t>
            </a:r>
            <a:r>
              <a:rPr sz="1400" b="0" dirty="0">
                <a:solidFill>
                  <a:srgbClr val="242424"/>
                </a:solidFill>
                <a:latin typeface="Aptos"/>
              </a:rPr>
              <a:t>, </a:t>
            </a:r>
            <a:r>
              <a:rPr sz="1400" b="0" dirty="0" err="1">
                <a:solidFill>
                  <a:srgbClr val="242424"/>
                </a:solidFill>
                <a:latin typeface="Aptos"/>
              </a:rPr>
              <a:t>clientes</a:t>
            </a:r>
            <a:r>
              <a:rPr sz="1400" b="0" dirty="0">
                <a:solidFill>
                  <a:srgbClr val="242424"/>
                </a:solidFill>
                <a:latin typeface="Aptos"/>
              </a:rPr>
              <a:t>, ticket medio y </a:t>
            </a:r>
            <a:r>
              <a:rPr sz="1400" b="0" dirty="0" err="1">
                <a:solidFill>
                  <a:srgbClr val="242424"/>
                </a:solidFill>
                <a:latin typeface="Aptos"/>
              </a:rPr>
              <a:t>valoración</a:t>
            </a:r>
            <a:r>
              <a:rPr sz="1400" b="0" dirty="0">
                <a:solidFill>
                  <a:srgbClr val="242424"/>
                </a:solidFill>
                <a:latin typeface="Aptos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56832" y="3794760"/>
            <a:ext cx="4492752" cy="1600200"/>
          </a:xfrm>
          <a:prstGeom prst="roundRect">
            <a:avLst/>
          </a:prstGeom>
          <a:solidFill>
            <a:srgbClr val="F3EEF1"/>
          </a:solidFill>
          <a:ln>
            <a:solidFill>
              <a:srgbClr val="E8E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03720" y="4032504"/>
            <a:ext cx="1828800" cy="182880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sz="1000" b="1">
                <a:solidFill>
                  <a:srgbClr val="72566A"/>
                </a:solidFill>
                <a:latin typeface="Aptos"/>
              </a:rPr>
              <a:t>RESULTADO PRINCIPAL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4398264"/>
            <a:ext cx="4069080" cy="507831"/>
          </a:xfrm>
          <a:prstGeom prst="rect">
            <a:avLst/>
          </a:prstGeom>
          <a:noFill/>
        </p:spPr>
        <p:txBody>
          <a:bodyPr wrap="square" lIns="22860" tIns="22860" rIns="22860" bIns="22860" anchor="t">
            <a:spAutoFit/>
          </a:bodyPr>
          <a:lstStyle/>
          <a:p>
            <a:pPr algn="l"/>
            <a:r>
              <a:rPr sz="1500" b="1" dirty="0">
                <a:solidFill>
                  <a:srgbClr val="242424"/>
                </a:solidFill>
                <a:latin typeface="Aptos"/>
              </a:rPr>
              <a:t>13,59 M </a:t>
            </a:r>
            <a:r>
              <a:rPr sz="1500" b="1" dirty="0" err="1">
                <a:solidFill>
                  <a:srgbClr val="242424"/>
                </a:solidFill>
                <a:latin typeface="Aptos"/>
              </a:rPr>
              <a:t>en</a:t>
            </a:r>
            <a:r>
              <a:rPr sz="1500" b="1" dirty="0">
                <a:solidFill>
                  <a:srgbClr val="242424"/>
                </a:solidFill>
                <a:latin typeface="Aptos"/>
              </a:rPr>
              <a:t> </a:t>
            </a:r>
            <a:r>
              <a:rPr sz="1500" b="1" dirty="0" err="1">
                <a:solidFill>
                  <a:srgbClr val="242424"/>
                </a:solidFill>
                <a:latin typeface="Aptos"/>
              </a:rPr>
              <a:t>ventas</a:t>
            </a:r>
            <a:r>
              <a:rPr sz="1500" b="1" dirty="0">
                <a:solidFill>
                  <a:srgbClr val="242424"/>
                </a:solidFill>
                <a:latin typeface="Aptos"/>
              </a:rPr>
              <a:t>, 99 K </a:t>
            </a:r>
            <a:r>
              <a:rPr sz="1500" b="1" dirty="0" err="1">
                <a:solidFill>
                  <a:srgbClr val="242424"/>
                </a:solidFill>
                <a:latin typeface="Aptos"/>
              </a:rPr>
              <a:t>pedidos</a:t>
            </a:r>
            <a:r>
              <a:rPr sz="1500" b="1" dirty="0">
                <a:solidFill>
                  <a:srgbClr val="242424"/>
                </a:solidFill>
                <a:latin typeface="Aptos"/>
              </a:rPr>
              <a:t>, 96 K </a:t>
            </a:r>
            <a:r>
              <a:rPr sz="1500" b="1" dirty="0" err="1">
                <a:solidFill>
                  <a:srgbClr val="242424"/>
                </a:solidFill>
                <a:latin typeface="Aptos"/>
              </a:rPr>
              <a:t>clientes</a:t>
            </a:r>
            <a:r>
              <a:rPr sz="1500" b="1" dirty="0">
                <a:solidFill>
                  <a:srgbClr val="242424"/>
                </a:solidFill>
                <a:latin typeface="Aptos"/>
              </a:rPr>
              <a:t>, ticket medio de 136,68 y review media de 4,09.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9CE5A4E-1BFA-66DF-DBBD-475CD2A19B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152"/>
          <a:stretch>
            <a:fillRect/>
          </a:stretch>
        </p:blipFill>
        <p:spPr>
          <a:xfrm>
            <a:off x="658368" y="1697406"/>
            <a:ext cx="4788180" cy="200014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A344A9C-CEDC-357D-DB72-F8CC0D0A98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803001"/>
            <a:ext cx="4788180" cy="2241183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E4AEE53-8AD9-5F93-63C0-8D95A2CB3346}"/>
              </a:ext>
            </a:extLst>
          </p:cNvPr>
          <p:cNvSpPr txBox="1"/>
          <p:nvPr/>
        </p:nvSpPr>
        <p:spPr>
          <a:xfrm>
            <a:off x="4572000" y="2103120"/>
            <a:ext cx="4402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lnSpc>
                <a:spcPct val="100000"/>
              </a:lnSpc>
              <a:buNone/>
            </a:pPr>
            <a:r>
              <a:rPr lang="es-ES" sz="1400" i="0" dirty="0">
                <a:effectLst/>
              </a:rPr>
              <a:t>R$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D8E2C11-1A4B-BED2-E5C8-3D749FF0A4F8}"/>
              </a:ext>
            </a:extLst>
          </p:cNvPr>
          <p:cNvSpPr txBox="1"/>
          <p:nvPr/>
        </p:nvSpPr>
        <p:spPr>
          <a:xfrm>
            <a:off x="1270338" y="2103120"/>
            <a:ext cx="4402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lnSpc>
                <a:spcPct val="100000"/>
              </a:lnSpc>
              <a:buNone/>
            </a:pPr>
            <a:r>
              <a:rPr lang="es-ES" sz="1400" i="0" dirty="0">
                <a:effectLst/>
              </a:rPr>
              <a:t>R$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72566A"/>
          </a:solidFill>
          <a:ln>
            <a:solidFill>
              <a:srgbClr val="725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6547104"/>
            <a:ext cx="2194560" cy="164592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sz="800" b="1">
                <a:solidFill>
                  <a:srgbClr val="666666"/>
                </a:solidFill>
                <a:latin typeface="Aptos"/>
              </a:rPr>
              <a:t>OLIST | POWER BI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72600" y="6547104"/>
            <a:ext cx="2240280" cy="164592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r"/>
            <a:r>
              <a:rPr sz="800" b="0">
                <a:solidFill>
                  <a:srgbClr val="666666"/>
                </a:solidFill>
                <a:latin typeface="Aptos"/>
              </a:rPr>
              <a:t>ANÁLISIS DESCRIPTIVO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457200" cy="182880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sz="900" b="1">
                <a:solidFill>
                  <a:srgbClr val="72566A"/>
                </a:solidFill>
                <a:latin typeface="Aptos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76656"/>
            <a:ext cx="10881360" cy="502920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sz="2700" b="1">
                <a:solidFill>
                  <a:srgbClr val="242424"/>
                </a:solidFill>
                <a:latin typeface="Aptos"/>
              </a:rPr>
              <a:t>Página 2 · Productos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225296"/>
            <a:ext cx="10698480" cy="310896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Aptos"/>
              </a:rPr>
              <a:t>¿Qué categorías generan más facturación?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1929384"/>
            <a:ext cx="3977639" cy="1417320"/>
          </a:xfrm>
          <a:prstGeom prst="roundRect">
            <a:avLst/>
          </a:prstGeom>
          <a:solidFill>
            <a:srgbClr val="FAFAF9"/>
          </a:solidFill>
          <a:ln>
            <a:solidFill>
              <a:srgbClr val="E8E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53528" y="2157984"/>
            <a:ext cx="658514" cy="200055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sz="1000" b="1" dirty="0">
                <a:solidFill>
                  <a:srgbClr val="72566A"/>
                </a:solidFill>
                <a:latin typeface="Aptos"/>
              </a:rPr>
              <a:t>QUÉ SE 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53528" y="2523744"/>
            <a:ext cx="3383280" cy="477054"/>
          </a:xfrm>
          <a:prstGeom prst="rect">
            <a:avLst/>
          </a:prstGeom>
          <a:noFill/>
        </p:spPr>
        <p:txBody>
          <a:bodyPr wrap="square" lIns="22860" tIns="22860" rIns="22860" bIns="22860" anchor="t">
            <a:spAutoFit/>
          </a:bodyPr>
          <a:lstStyle/>
          <a:p>
            <a:pPr algn="l"/>
            <a:r>
              <a:rPr sz="1400" b="0" dirty="0" err="1">
                <a:solidFill>
                  <a:srgbClr val="242424"/>
                </a:solidFill>
                <a:latin typeface="Aptos"/>
              </a:rPr>
              <a:t>Treemap</a:t>
            </a:r>
            <a:r>
              <a:rPr sz="1400" b="0" dirty="0">
                <a:solidFill>
                  <a:srgbClr val="242424"/>
                </a:solidFill>
                <a:latin typeface="Aptos"/>
              </a:rPr>
              <a:t>, barras y </a:t>
            </a:r>
            <a:r>
              <a:rPr sz="1400" b="0" dirty="0" err="1">
                <a:solidFill>
                  <a:srgbClr val="242424"/>
                </a:solidFill>
                <a:latin typeface="Aptos"/>
              </a:rPr>
              <a:t>tabla</a:t>
            </a:r>
            <a:r>
              <a:rPr sz="1400" b="0" dirty="0">
                <a:solidFill>
                  <a:srgbClr val="242424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242424"/>
                </a:solidFill>
                <a:latin typeface="Aptos"/>
              </a:rPr>
              <a:t>comparan</a:t>
            </a:r>
            <a:r>
              <a:rPr sz="1400" b="0" dirty="0">
                <a:solidFill>
                  <a:srgbClr val="242424"/>
                </a:solidFill>
                <a:latin typeface="Aptos"/>
              </a:rPr>
              <a:t> las </a:t>
            </a:r>
            <a:r>
              <a:rPr sz="1400" b="0" dirty="0" err="1">
                <a:solidFill>
                  <a:srgbClr val="242424"/>
                </a:solidFill>
                <a:latin typeface="Aptos"/>
              </a:rPr>
              <a:t>categorías</a:t>
            </a:r>
            <a:r>
              <a:rPr sz="1400" b="0" dirty="0">
                <a:solidFill>
                  <a:srgbClr val="242424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242424"/>
                </a:solidFill>
                <a:latin typeface="Aptos"/>
              </a:rPr>
              <a:t>según</a:t>
            </a:r>
            <a:r>
              <a:rPr sz="1400" b="0" dirty="0">
                <a:solidFill>
                  <a:srgbClr val="242424"/>
                </a:solidFill>
                <a:latin typeface="Aptos"/>
              </a:rPr>
              <a:t> el valor de sus </a:t>
            </a:r>
            <a:r>
              <a:rPr sz="1400" b="0" dirty="0" err="1">
                <a:solidFill>
                  <a:srgbClr val="242424"/>
                </a:solidFill>
                <a:latin typeface="Aptos"/>
              </a:rPr>
              <a:t>ventas</a:t>
            </a:r>
            <a:r>
              <a:rPr sz="1400" b="0" dirty="0">
                <a:solidFill>
                  <a:srgbClr val="242424"/>
                </a:solidFill>
                <a:latin typeface="Aptos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3621024"/>
            <a:ext cx="3977639" cy="1600200"/>
          </a:xfrm>
          <a:prstGeom prst="roundRect">
            <a:avLst/>
          </a:prstGeom>
          <a:solidFill>
            <a:srgbClr val="F3EEF1"/>
          </a:solidFill>
          <a:ln>
            <a:solidFill>
              <a:srgbClr val="E8E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53528" y="3858768"/>
            <a:ext cx="1432765" cy="200055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sz="1000" b="1" dirty="0">
                <a:solidFill>
                  <a:srgbClr val="72566A"/>
                </a:solidFill>
                <a:latin typeface="Aptos"/>
              </a:rPr>
              <a:t>RESULTADO PRINCIPAL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53528" y="4224528"/>
            <a:ext cx="3377184" cy="507831"/>
          </a:xfrm>
          <a:prstGeom prst="rect">
            <a:avLst/>
          </a:prstGeom>
          <a:noFill/>
        </p:spPr>
        <p:txBody>
          <a:bodyPr wrap="square" lIns="22860" tIns="22860" rIns="22860" bIns="22860" anchor="t">
            <a:spAutoFit/>
          </a:bodyPr>
          <a:lstStyle/>
          <a:p>
            <a:pPr algn="l"/>
            <a:r>
              <a:rPr sz="1500" b="1" dirty="0">
                <a:solidFill>
                  <a:srgbClr val="242424"/>
                </a:solidFill>
                <a:latin typeface="Aptos"/>
              </a:rPr>
              <a:t>Health &amp; Beauty y Watches &amp; Gifts son las </a:t>
            </a:r>
            <a:r>
              <a:rPr sz="1500" b="1" dirty="0" err="1">
                <a:solidFill>
                  <a:srgbClr val="242424"/>
                </a:solidFill>
                <a:latin typeface="Aptos"/>
              </a:rPr>
              <a:t>categorías</a:t>
            </a:r>
            <a:r>
              <a:rPr sz="1500" b="1" dirty="0">
                <a:solidFill>
                  <a:srgbClr val="242424"/>
                </a:solidFill>
                <a:latin typeface="Aptos"/>
              </a:rPr>
              <a:t> con mayor </a:t>
            </a:r>
            <a:r>
              <a:rPr sz="1500" b="1" dirty="0" err="1">
                <a:solidFill>
                  <a:srgbClr val="242424"/>
                </a:solidFill>
                <a:latin typeface="Aptos"/>
              </a:rPr>
              <a:t>facturación</a:t>
            </a:r>
            <a:r>
              <a:rPr sz="1500" b="1" dirty="0">
                <a:solidFill>
                  <a:srgbClr val="242424"/>
                </a:solidFill>
                <a:latin typeface="Aptos"/>
              </a:rPr>
              <a:t>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C98D1AF-A34B-787A-7EAE-A92B73182D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688" y="4088121"/>
            <a:ext cx="3585485" cy="221107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E2EAF6E-B0E3-560C-3D36-E71D78A24F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9431" y="1683591"/>
            <a:ext cx="2887481" cy="232148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55C6495-3500-4AAD-09D6-BD13C5F058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683590"/>
            <a:ext cx="2875230" cy="232148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E5864-750F-7DAB-E50F-3685DEBF4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CDDAC0F-4ECA-2BE6-341C-853B31872F87}"/>
              </a:ext>
            </a:extLst>
          </p:cNvPr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72566A"/>
          </a:solidFill>
          <a:ln>
            <a:solidFill>
              <a:srgbClr val="725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A94FAE-FE47-DAC3-DAF0-7D12BCF4B504}"/>
              </a:ext>
            </a:extLst>
          </p:cNvPr>
          <p:cNvSpPr txBox="1"/>
          <p:nvPr/>
        </p:nvSpPr>
        <p:spPr>
          <a:xfrm>
            <a:off x="530352" y="6547104"/>
            <a:ext cx="2194560" cy="164592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sz="800" b="1">
                <a:solidFill>
                  <a:srgbClr val="666666"/>
                </a:solidFill>
                <a:latin typeface="Aptos"/>
              </a:rPr>
              <a:t>OLIST | POWER BI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0DF389-2CD4-E8D9-3FEA-AA65F577B906}"/>
              </a:ext>
            </a:extLst>
          </p:cNvPr>
          <p:cNvSpPr txBox="1"/>
          <p:nvPr/>
        </p:nvSpPr>
        <p:spPr>
          <a:xfrm>
            <a:off x="9372600" y="6547104"/>
            <a:ext cx="2240280" cy="164592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r"/>
            <a:r>
              <a:rPr sz="800" b="0">
                <a:solidFill>
                  <a:srgbClr val="666666"/>
                </a:solidFill>
                <a:latin typeface="Aptos"/>
              </a:rPr>
              <a:t>ANÁLISIS DESCRIPTIVO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3C2AC5-DF88-7BFB-D5EA-629247728DCA}"/>
              </a:ext>
            </a:extLst>
          </p:cNvPr>
          <p:cNvSpPr txBox="1"/>
          <p:nvPr/>
        </p:nvSpPr>
        <p:spPr>
          <a:xfrm>
            <a:off x="640080" y="384048"/>
            <a:ext cx="457200" cy="182880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sz="900" b="1">
                <a:solidFill>
                  <a:srgbClr val="72566A"/>
                </a:solidFill>
                <a:latin typeface="Aptos"/>
              </a:rPr>
              <a:t>06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434BC3-6693-9103-5172-9501644196E3}"/>
              </a:ext>
            </a:extLst>
          </p:cNvPr>
          <p:cNvSpPr txBox="1"/>
          <p:nvPr/>
        </p:nvSpPr>
        <p:spPr>
          <a:xfrm>
            <a:off x="640080" y="676656"/>
            <a:ext cx="10881360" cy="502920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sz="2700" b="1">
                <a:solidFill>
                  <a:srgbClr val="242424"/>
                </a:solidFill>
                <a:latin typeface="Aptos"/>
              </a:rPr>
              <a:t>Página 3 · Geografía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3884B0-87DE-B4F0-0B7E-04BD72CEF3B2}"/>
              </a:ext>
            </a:extLst>
          </p:cNvPr>
          <p:cNvSpPr txBox="1"/>
          <p:nvPr/>
        </p:nvSpPr>
        <p:spPr>
          <a:xfrm>
            <a:off x="658368" y="1225296"/>
            <a:ext cx="10698480" cy="310896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Aptos"/>
              </a:rPr>
              <a:t>¿Dónde se concentran clientes y ventas?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6B7EEEB-CF12-F333-F961-0608ED8E7AEB}"/>
              </a:ext>
            </a:extLst>
          </p:cNvPr>
          <p:cNvSpPr/>
          <p:nvPr/>
        </p:nvSpPr>
        <p:spPr>
          <a:xfrm>
            <a:off x="7543800" y="1709928"/>
            <a:ext cx="3977639" cy="1417320"/>
          </a:xfrm>
          <a:prstGeom prst="roundRect">
            <a:avLst/>
          </a:prstGeom>
          <a:solidFill>
            <a:srgbClr val="FAFAF9"/>
          </a:solidFill>
          <a:ln>
            <a:solidFill>
              <a:srgbClr val="E8E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B99425-A14B-A70A-2B3B-BDB354C85318}"/>
              </a:ext>
            </a:extLst>
          </p:cNvPr>
          <p:cNvSpPr txBox="1"/>
          <p:nvPr/>
        </p:nvSpPr>
        <p:spPr>
          <a:xfrm>
            <a:off x="7790688" y="1938528"/>
            <a:ext cx="658514" cy="200055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sz="1000" b="1">
                <a:solidFill>
                  <a:srgbClr val="72566A"/>
                </a:solidFill>
                <a:latin typeface="Aptos"/>
              </a:rPr>
              <a:t>QUÉ SE VE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950A1B-44B3-9FDE-A106-45ABE20C94D2}"/>
              </a:ext>
            </a:extLst>
          </p:cNvPr>
          <p:cNvSpPr txBox="1"/>
          <p:nvPr/>
        </p:nvSpPr>
        <p:spPr>
          <a:xfrm>
            <a:off x="7790688" y="2304288"/>
            <a:ext cx="3566160" cy="477054"/>
          </a:xfrm>
          <a:prstGeom prst="rect">
            <a:avLst/>
          </a:prstGeom>
          <a:noFill/>
        </p:spPr>
        <p:txBody>
          <a:bodyPr wrap="square" lIns="22860" tIns="22860" rIns="22860" bIns="22860" anchor="t">
            <a:spAutoFit/>
          </a:bodyPr>
          <a:lstStyle/>
          <a:p>
            <a:pPr algn="l"/>
            <a:r>
              <a:rPr sz="1400" b="0" dirty="0">
                <a:solidFill>
                  <a:srgbClr val="242424"/>
                </a:solidFill>
                <a:latin typeface="Aptos"/>
              </a:rPr>
              <a:t>El </a:t>
            </a:r>
            <a:r>
              <a:rPr sz="1400" b="0" dirty="0" err="1">
                <a:solidFill>
                  <a:srgbClr val="242424"/>
                </a:solidFill>
                <a:latin typeface="Aptos"/>
              </a:rPr>
              <a:t>mapa</a:t>
            </a:r>
            <a:r>
              <a:rPr sz="1400" b="0" dirty="0">
                <a:solidFill>
                  <a:srgbClr val="242424"/>
                </a:solidFill>
                <a:latin typeface="Aptos"/>
              </a:rPr>
              <a:t>, las barras y la </a:t>
            </a:r>
            <a:r>
              <a:rPr sz="1400" b="0" dirty="0" err="1">
                <a:solidFill>
                  <a:srgbClr val="242424"/>
                </a:solidFill>
                <a:latin typeface="Aptos"/>
              </a:rPr>
              <a:t>tabla</a:t>
            </a:r>
            <a:r>
              <a:rPr sz="1400" b="0" dirty="0">
                <a:solidFill>
                  <a:srgbClr val="242424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242424"/>
                </a:solidFill>
                <a:latin typeface="Aptos"/>
              </a:rPr>
              <a:t>distribuyen</a:t>
            </a:r>
            <a:r>
              <a:rPr sz="1400" b="0" dirty="0">
                <a:solidFill>
                  <a:srgbClr val="242424"/>
                </a:solidFill>
                <a:latin typeface="Aptos"/>
              </a:rPr>
              <a:t> la </a:t>
            </a:r>
            <a:r>
              <a:rPr sz="1400" b="0" dirty="0" err="1">
                <a:solidFill>
                  <a:srgbClr val="242424"/>
                </a:solidFill>
                <a:latin typeface="Aptos"/>
              </a:rPr>
              <a:t>actividad</a:t>
            </a:r>
            <a:r>
              <a:rPr sz="1400" b="0" dirty="0">
                <a:solidFill>
                  <a:srgbClr val="242424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242424"/>
                </a:solidFill>
                <a:latin typeface="Aptos"/>
              </a:rPr>
              <a:t>comercial</a:t>
            </a:r>
            <a:r>
              <a:rPr sz="1400" b="0" dirty="0">
                <a:solidFill>
                  <a:srgbClr val="242424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242424"/>
                </a:solidFill>
                <a:latin typeface="Aptos"/>
              </a:rPr>
              <a:t>por</a:t>
            </a:r>
            <a:r>
              <a:rPr sz="1400" b="0" dirty="0">
                <a:solidFill>
                  <a:srgbClr val="242424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242424"/>
                </a:solidFill>
                <a:latin typeface="Aptos"/>
              </a:rPr>
              <a:t>estado</a:t>
            </a:r>
            <a:r>
              <a:rPr sz="1400" b="0" dirty="0">
                <a:solidFill>
                  <a:srgbClr val="242424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242424"/>
                </a:solidFill>
                <a:latin typeface="Aptos"/>
              </a:rPr>
              <a:t>brasileño</a:t>
            </a:r>
            <a:r>
              <a:rPr sz="1400" b="0" dirty="0">
                <a:solidFill>
                  <a:srgbClr val="242424"/>
                </a:solidFill>
                <a:latin typeface="Aptos"/>
              </a:rPr>
              <a:t>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9D97D7FE-7610-921E-5622-6DC909D34590}"/>
              </a:ext>
            </a:extLst>
          </p:cNvPr>
          <p:cNvSpPr/>
          <p:nvPr/>
        </p:nvSpPr>
        <p:spPr>
          <a:xfrm>
            <a:off x="7543800" y="3401568"/>
            <a:ext cx="3977639" cy="1600200"/>
          </a:xfrm>
          <a:prstGeom prst="roundRect">
            <a:avLst/>
          </a:prstGeom>
          <a:solidFill>
            <a:srgbClr val="F3EEF1"/>
          </a:solidFill>
          <a:ln>
            <a:solidFill>
              <a:srgbClr val="E8E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06E855-5083-9649-6E2C-C781A2509258}"/>
              </a:ext>
            </a:extLst>
          </p:cNvPr>
          <p:cNvSpPr txBox="1"/>
          <p:nvPr/>
        </p:nvSpPr>
        <p:spPr>
          <a:xfrm>
            <a:off x="7790688" y="3639312"/>
            <a:ext cx="1432765" cy="200055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sz="1000" b="1" dirty="0">
                <a:solidFill>
                  <a:srgbClr val="72566A"/>
                </a:solidFill>
                <a:latin typeface="Aptos"/>
              </a:rPr>
              <a:t>RESULTADO PRINCIPAL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5BE5A0-8710-F403-D48E-65337E7A1980}"/>
              </a:ext>
            </a:extLst>
          </p:cNvPr>
          <p:cNvSpPr txBox="1"/>
          <p:nvPr/>
        </p:nvSpPr>
        <p:spPr>
          <a:xfrm>
            <a:off x="7790688" y="4005072"/>
            <a:ext cx="3493008" cy="738664"/>
          </a:xfrm>
          <a:prstGeom prst="rect">
            <a:avLst/>
          </a:prstGeom>
          <a:noFill/>
        </p:spPr>
        <p:txBody>
          <a:bodyPr wrap="square" lIns="22860" tIns="22860" rIns="22860" bIns="22860" anchor="t">
            <a:spAutoFit/>
          </a:bodyPr>
          <a:lstStyle/>
          <a:p>
            <a:pPr algn="l"/>
            <a:r>
              <a:rPr sz="1500" b="1" dirty="0">
                <a:solidFill>
                  <a:srgbClr val="242424"/>
                </a:solidFill>
                <a:latin typeface="Aptos"/>
              </a:rPr>
              <a:t>São Paulo </a:t>
            </a:r>
            <a:r>
              <a:rPr sz="1500" b="1" dirty="0" err="1">
                <a:solidFill>
                  <a:srgbClr val="242424"/>
                </a:solidFill>
                <a:latin typeface="Aptos"/>
              </a:rPr>
              <a:t>lidera</a:t>
            </a:r>
            <a:r>
              <a:rPr sz="1500" b="1" dirty="0">
                <a:solidFill>
                  <a:srgbClr val="242424"/>
                </a:solidFill>
                <a:latin typeface="Aptos"/>
              </a:rPr>
              <a:t> con 5,20 M </a:t>
            </a:r>
            <a:r>
              <a:rPr sz="1500" b="1" dirty="0" err="1">
                <a:solidFill>
                  <a:srgbClr val="242424"/>
                </a:solidFill>
                <a:latin typeface="Aptos"/>
              </a:rPr>
              <a:t>en</a:t>
            </a:r>
            <a:r>
              <a:rPr sz="1500" b="1" dirty="0">
                <a:solidFill>
                  <a:srgbClr val="242424"/>
                </a:solidFill>
                <a:latin typeface="Aptos"/>
              </a:rPr>
              <a:t> </a:t>
            </a:r>
            <a:r>
              <a:rPr sz="1500" b="1" dirty="0" err="1">
                <a:solidFill>
                  <a:srgbClr val="242424"/>
                </a:solidFill>
                <a:latin typeface="Aptos"/>
              </a:rPr>
              <a:t>ventas</a:t>
            </a:r>
            <a:r>
              <a:rPr sz="1500" b="1" dirty="0">
                <a:solidFill>
                  <a:srgbClr val="242424"/>
                </a:solidFill>
                <a:latin typeface="Aptos"/>
              </a:rPr>
              <a:t> y 40.302 </a:t>
            </a:r>
            <a:r>
              <a:rPr sz="1500" b="1" dirty="0" err="1">
                <a:solidFill>
                  <a:srgbClr val="242424"/>
                </a:solidFill>
                <a:latin typeface="Aptos"/>
              </a:rPr>
              <a:t>clientes</a:t>
            </a:r>
            <a:r>
              <a:rPr sz="1500" b="1" dirty="0">
                <a:solidFill>
                  <a:srgbClr val="242424"/>
                </a:solidFill>
                <a:latin typeface="Aptos"/>
              </a:rPr>
              <a:t>; </a:t>
            </a:r>
            <a:r>
              <a:rPr lang="en-US" sz="1500" b="1" dirty="0">
                <a:solidFill>
                  <a:srgbClr val="242424"/>
                </a:solidFill>
                <a:latin typeface="Aptos"/>
              </a:rPr>
              <a:t>Rio de Janeiro</a:t>
            </a:r>
            <a:r>
              <a:rPr sz="1500" b="1" dirty="0">
                <a:solidFill>
                  <a:srgbClr val="242424"/>
                </a:solidFill>
                <a:latin typeface="Aptos"/>
              </a:rPr>
              <a:t> y </a:t>
            </a:r>
            <a:r>
              <a:rPr lang="en-US" sz="1500" b="1" dirty="0">
                <a:solidFill>
                  <a:srgbClr val="242424"/>
                </a:solidFill>
                <a:latin typeface="Aptos"/>
              </a:rPr>
              <a:t>Minas Gerais</a:t>
            </a:r>
            <a:r>
              <a:rPr sz="1500" b="1" dirty="0">
                <a:solidFill>
                  <a:srgbClr val="242424"/>
                </a:solidFill>
                <a:latin typeface="Aptos"/>
              </a:rPr>
              <a:t> </a:t>
            </a:r>
            <a:r>
              <a:rPr sz="1500" b="1" dirty="0" err="1">
                <a:solidFill>
                  <a:srgbClr val="242424"/>
                </a:solidFill>
                <a:latin typeface="Aptos"/>
              </a:rPr>
              <a:t>forman</a:t>
            </a:r>
            <a:r>
              <a:rPr sz="1500" b="1" dirty="0">
                <a:solidFill>
                  <a:srgbClr val="242424"/>
                </a:solidFill>
                <a:latin typeface="Aptos"/>
              </a:rPr>
              <a:t> el </a:t>
            </a:r>
            <a:r>
              <a:rPr sz="1500" b="1" dirty="0" err="1">
                <a:solidFill>
                  <a:srgbClr val="242424"/>
                </a:solidFill>
                <a:latin typeface="Aptos"/>
              </a:rPr>
              <a:t>segundo</a:t>
            </a:r>
            <a:r>
              <a:rPr sz="1500" b="1" dirty="0">
                <a:solidFill>
                  <a:srgbClr val="242424"/>
                </a:solidFill>
                <a:latin typeface="Aptos"/>
              </a:rPr>
              <a:t> </a:t>
            </a:r>
            <a:r>
              <a:rPr sz="1500" b="1" dirty="0" err="1">
                <a:solidFill>
                  <a:srgbClr val="242424"/>
                </a:solidFill>
                <a:latin typeface="Aptos"/>
              </a:rPr>
              <a:t>bloque</a:t>
            </a:r>
            <a:r>
              <a:rPr sz="1500" b="1" dirty="0">
                <a:solidFill>
                  <a:srgbClr val="242424"/>
                </a:solidFill>
                <a:latin typeface="Aptos"/>
              </a:rPr>
              <a:t>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890F60C-2E86-5C49-B24E-9AC1D11007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06" y="1833389"/>
            <a:ext cx="6666727" cy="313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3637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72566A"/>
          </a:solidFill>
          <a:ln>
            <a:solidFill>
              <a:srgbClr val="725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6547104"/>
            <a:ext cx="2194560" cy="164592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sz="800" b="1">
                <a:solidFill>
                  <a:srgbClr val="666666"/>
                </a:solidFill>
                <a:latin typeface="Aptos"/>
              </a:rPr>
              <a:t>OLIST | POWER BI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72600" y="6547104"/>
            <a:ext cx="2240280" cy="164592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r"/>
            <a:r>
              <a:rPr sz="800" b="0">
                <a:solidFill>
                  <a:srgbClr val="666666"/>
                </a:solidFill>
                <a:latin typeface="Aptos"/>
              </a:rPr>
              <a:t>ANÁLISIS DESCRIPTIVO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457200" cy="182880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sz="900" b="1">
                <a:solidFill>
                  <a:srgbClr val="72566A"/>
                </a:solidFill>
                <a:latin typeface="Aptos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76656"/>
            <a:ext cx="10881360" cy="502920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sz="2700" b="1">
                <a:solidFill>
                  <a:srgbClr val="242424"/>
                </a:solidFill>
                <a:latin typeface="Aptos"/>
              </a:rPr>
              <a:t>Página 3 · Geografía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225296"/>
            <a:ext cx="10698480" cy="310896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Aptos"/>
              </a:rPr>
              <a:t>¿Dónde se concentran clientes y ventas?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1AF42A4B-723F-A9BA-FE10-3282B26F86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4743" y="1706345"/>
            <a:ext cx="4497324" cy="392635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CFFDDD6-A774-4AA3-8259-1BB49FAFAD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8997" y="718158"/>
            <a:ext cx="3247135" cy="517479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72566A"/>
          </a:solidFill>
          <a:ln>
            <a:solidFill>
              <a:srgbClr val="725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6547104"/>
            <a:ext cx="2194560" cy="164592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sz="800" b="1">
                <a:solidFill>
                  <a:srgbClr val="666666"/>
                </a:solidFill>
                <a:latin typeface="Aptos"/>
              </a:rPr>
              <a:t>OLIST | POWER BI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72600" y="6547104"/>
            <a:ext cx="2240280" cy="164592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r"/>
            <a:r>
              <a:rPr sz="800" b="0">
                <a:solidFill>
                  <a:srgbClr val="666666"/>
                </a:solidFill>
                <a:latin typeface="Aptos"/>
              </a:rPr>
              <a:t>ANÁLISIS DESCRIPTIVO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457200" cy="182880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sz="900" b="1">
                <a:solidFill>
                  <a:srgbClr val="72566A"/>
                </a:solidFill>
                <a:latin typeface="Aptos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76656"/>
            <a:ext cx="10881360" cy="502920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sz="2700" b="1">
                <a:solidFill>
                  <a:srgbClr val="242424"/>
                </a:solidFill>
                <a:latin typeface="Aptos"/>
              </a:rPr>
              <a:t>Página 4 · Satisfacción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225296"/>
            <a:ext cx="10698480" cy="310896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Aptos"/>
              </a:rPr>
              <a:t>¿Cómo valoran los clientes sus compras y entregas?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1811532"/>
            <a:ext cx="3977639" cy="1417320"/>
          </a:xfrm>
          <a:prstGeom prst="roundRect">
            <a:avLst/>
          </a:prstGeom>
          <a:solidFill>
            <a:srgbClr val="FAFAF9"/>
          </a:solidFill>
          <a:ln>
            <a:solidFill>
              <a:srgbClr val="E8E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90688" y="2040132"/>
            <a:ext cx="1097280" cy="182880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sz="1000" b="1">
                <a:solidFill>
                  <a:srgbClr val="72566A"/>
                </a:solidFill>
                <a:latin typeface="Aptos"/>
              </a:rPr>
              <a:t>QUÉ SE 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329689"/>
            <a:ext cx="3383280" cy="692497"/>
          </a:xfrm>
          <a:prstGeom prst="rect">
            <a:avLst/>
          </a:prstGeom>
          <a:noFill/>
        </p:spPr>
        <p:txBody>
          <a:bodyPr wrap="square" lIns="22860" tIns="22860" rIns="22860" bIns="22860" anchor="t">
            <a:spAutoFit/>
          </a:bodyPr>
          <a:lstStyle/>
          <a:p>
            <a:pPr algn="l"/>
            <a:r>
              <a:rPr sz="1400" b="0" dirty="0">
                <a:solidFill>
                  <a:srgbClr val="242424"/>
                </a:solidFill>
                <a:latin typeface="Aptos"/>
              </a:rPr>
              <a:t>La </a:t>
            </a:r>
            <a:r>
              <a:rPr sz="1400" b="0" dirty="0" err="1">
                <a:solidFill>
                  <a:srgbClr val="242424"/>
                </a:solidFill>
                <a:latin typeface="Aptos"/>
              </a:rPr>
              <a:t>página</a:t>
            </a:r>
            <a:r>
              <a:rPr sz="1400" b="0" dirty="0">
                <a:solidFill>
                  <a:srgbClr val="242424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242424"/>
                </a:solidFill>
                <a:latin typeface="Aptos"/>
              </a:rPr>
              <a:t>muestra</a:t>
            </a:r>
            <a:r>
              <a:rPr sz="1400" b="0" dirty="0">
                <a:solidFill>
                  <a:srgbClr val="242424"/>
                </a:solidFill>
                <a:latin typeface="Aptos"/>
              </a:rPr>
              <a:t> la </a:t>
            </a:r>
            <a:r>
              <a:rPr sz="1400" b="0" dirty="0" err="1">
                <a:solidFill>
                  <a:srgbClr val="242424"/>
                </a:solidFill>
                <a:latin typeface="Aptos"/>
              </a:rPr>
              <a:t>distribución</a:t>
            </a:r>
            <a:r>
              <a:rPr sz="1400" b="0" dirty="0">
                <a:solidFill>
                  <a:srgbClr val="242424"/>
                </a:solidFill>
                <a:latin typeface="Aptos"/>
              </a:rPr>
              <a:t> de </a:t>
            </a:r>
            <a:r>
              <a:rPr sz="1400" b="0" dirty="0" err="1">
                <a:solidFill>
                  <a:srgbClr val="242424"/>
                </a:solidFill>
                <a:latin typeface="Aptos"/>
              </a:rPr>
              <a:t>puntuaciones</a:t>
            </a:r>
            <a:r>
              <a:rPr sz="1400" b="0" dirty="0">
                <a:solidFill>
                  <a:srgbClr val="242424"/>
                </a:solidFill>
                <a:latin typeface="Aptos"/>
              </a:rPr>
              <a:t> y </a:t>
            </a:r>
            <a:r>
              <a:rPr sz="1400" b="0" dirty="0" err="1">
                <a:solidFill>
                  <a:srgbClr val="242424"/>
                </a:solidFill>
                <a:latin typeface="Aptos"/>
              </a:rPr>
              <a:t>clasifica</a:t>
            </a:r>
            <a:r>
              <a:rPr sz="1400" b="0" dirty="0">
                <a:solidFill>
                  <a:srgbClr val="242424"/>
                </a:solidFill>
                <a:latin typeface="Aptos"/>
              </a:rPr>
              <a:t> las </a:t>
            </a:r>
            <a:r>
              <a:rPr sz="1400" b="0" dirty="0" err="1">
                <a:solidFill>
                  <a:srgbClr val="242424"/>
                </a:solidFill>
                <a:latin typeface="Aptos"/>
              </a:rPr>
              <a:t>entregas</a:t>
            </a:r>
            <a:r>
              <a:rPr sz="1400" b="0" dirty="0">
                <a:solidFill>
                  <a:srgbClr val="242424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242424"/>
                </a:solidFill>
                <a:latin typeface="Aptos"/>
              </a:rPr>
              <a:t>como</a:t>
            </a:r>
            <a:r>
              <a:rPr sz="1400" b="0" dirty="0">
                <a:solidFill>
                  <a:srgbClr val="242424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242424"/>
                </a:solidFill>
                <a:latin typeface="Aptos"/>
              </a:rPr>
              <a:t>puntuales</a:t>
            </a:r>
            <a:r>
              <a:rPr sz="1400" b="0" dirty="0">
                <a:solidFill>
                  <a:srgbClr val="242424"/>
                </a:solidFill>
                <a:latin typeface="Aptos"/>
              </a:rPr>
              <a:t>, </a:t>
            </a:r>
            <a:r>
              <a:rPr sz="1400" b="0" dirty="0" err="1">
                <a:solidFill>
                  <a:srgbClr val="242424"/>
                </a:solidFill>
                <a:latin typeface="Aptos"/>
              </a:rPr>
              <a:t>retrasadas</a:t>
            </a:r>
            <a:r>
              <a:rPr sz="1400" b="0" dirty="0">
                <a:solidFill>
                  <a:srgbClr val="242424"/>
                </a:solidFill>
                <a:latin typeface="Aptos"/>
              </a:rPr>
              <a:t> o sin </a:t>
            </a:r>
            <a:r>
              <a:rPr sz="1400" b="0" dirty="0" err="1">
                <a:solidFill>
                  <a:srgbClr val="242424"/>
                </a:solidFill>
                <a:latin typeface="Aptos"/>
              </a:rPr>
              <a:t>entrega</a:t>
            </a:r>
            <a:r>
              <a:rPr sz="1400" b="0" dirty="0">
                <a:solidFill>
                  <a:srgbClr val="242424"/>
                </a:solidFill>
                <a:latin typeface="Aptos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3503172"/>
            <a:ext cx="3977639" cy="1600200"/>
          </a:xfrm>
          <a:prstGeom prst="roundRect">
            <a:avLst/>
          </a:prstGeom>
          <a:solidFill>
            <a:srgbClr val="F3EEF1"/>
          </a:solidFill>
          <a:ln>
            <a:solidFill>
              <a:srgbClr val="E8E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90688" y="3740916"/>
            <a:ext cx="1828800" cy="182880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sz="1000" b="1">
                <a:solidFill>
                  <a:srgbClr val="72566A"/>
                </a:solidFill>
                <a:latin typeface="Aptos"/>
              </a:rPr>
              <a:t>RESULTADO PRINCIPAL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90688" y="4106676"/>
            <a:ext cx="3383280" cy="738664"/>
          </a:xfrm>
          <a:prstGeom prst="rect">
            <a:avLst/>
          </a:prstGeom>
          <a:noFill/>
        </p:spPr>
        <p:txBody>
          <a:bodyPr wrap="square" lIns="22860" tIns="22860" rIns="22860" bIns="22860" anchor="t">
            <a:spAutoFit/>
          </a:bodyPr>
          <a:lstStyle/>
          <a:p>
            <a:pPr algn="l"/>
            <a:r>
              <a:rPr sz="1500" b="1" dirty="0">
                <a:solidFill>
                  <a:srgbClr val="242424"/>
                </a:solidFill>
                <a:latin typeface="Aptos"/>
              </a:rPr>
              <a:t>La review media es 4,09; </a:t>
            </a:r>
            <a:r>
              <a:rPr sz="1500" b="1" dirty="0" err="1">
                <a:solidFill>
                  <a:srgbClr val="242424"/>
                </a:solidFill>
                <a:latin typeface="Aptos"/>
              </a:rPr>
              <a:t>predomina</a:t>
            </a:r>
            <a:r>
              <a:rPr sz="1500" b="1" dirty="0">
                <a:solidFill>
                  <a:srgbClr val="242424"/>
                </a:solidFill>
                <a:latin typeface="Aptos"/>
              </a:rPr>
              <a:t> la </a:t>
            </a:r>
            <a:r>
              <a:rPr sz="1500" b="1" dirty="0" err="1">
                <a:solidFill>
                  <a:srgbClr val="242424"/>
                </a:solidFill>
                <a:latin typeface="Aptos"/>
              </a:rPr>
              <a:t>puntuación</a:t>
            </a:r>
            <a:r>
              <a:rPr sz="1500" b="1" dirty="0">
                <a:solidFill>
                  <a:srgbClr val="242424"/>
                </a:solidFill>
                <a:latin typeface="Aptos"/>
              </a:rPr>
              <a:t> 5 y la </a:t>
            </a:r>
            <a:r>
              <a:rPr sz="1500" b="1" dirty="0" err="1">
                <a:solidFill>
                  <a:srgbClr val="242424"/>
                </a:solidFill>
                <a:latin typeface="Aptos"/>
              </a:rPr>
              <a:t>mayoría</a:t>
            </a:r>
            <a:r>
              <a:rPr sz="1500" b="1" dirty="0">
                <a:solidFill>
                  <a:srgbClr val="242424"/>
                </a:solidFill>
                <a:latin typeface="Aptos"/>
              </a:rPr>
              <a:t> de </a:t>
            </a:r>
            <a:r>
              <a:rPr sz="1500" b="1" dirty="0" err="1">
                <a:solidFill>
                  <a:srgbClr val="242424"/>
                </a:solidFill>
                <a:latin typeface="Aptos"/>
              </a:rPr>
              <a:t>pedidos</a:t>
            </a:r>
            <a:r>
              <a:rPr sz="1500" b="1" dirty="0">
                <a:solidFill>
                  <a:srgbClr val="242424"/>
                </a:solidFill>
                <a:latin typeface="Aptos"/>
              </a:rPr>
              <a:t> </a:t>
            </a:r>
            <a:r>
              <a:rPr sz="1500" b="1" dirty="0" err="1">
                <a:solidFill>
                  <a:srgbClr val="242424"/>
                </a:solidFill>
                <a:latin typeface="Aptos"/>
              </a:rPr>
              <a:t>llega</a:t>
            </a:r>
            <a:r>
              <a:rPr sz="1500" b="1" dirty="0">
                <a:solidFill>
                  <a:srgbClr val="242424"/>
                </a:solidFill>
                <a:latin typeface="Aptos"/>
              </a:rPr>
              <a:t> a </a:t>
            </a:r>
            <a:r>
              <a:rPr sz="1500" b="1" dirty="0" err="1">
                <a:solidFill>
                  <a:srgbClr val="242424"/>
                </a:solidFill>
                <a:latin typeface="Aptos"/>
              </a:rPr>
              <a:t>tiempo</a:t>
            </a:r>
            <a:r>
              <a:rPr sz="1500" b="1" dirty="0">
                <a:solidFill>
                  <a:srgbClr val="242424"/>
                </a:solidFill>
                <a:latin typeface="Aptos"/>
              </a:rPr>
              <a:t>.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CDB5166A-5B61-59E4-5934-A7D84DCFCF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141"/>
          <a:stretch>
            <a:fillRect/>
          </a:stretch>
        </p:blipFill>
        <p:spPr>
          <a:xfrm>
            <a:off x="670561" y="2133962"/>
            <a:ext cx="6553115" cy="278517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72566A"/>
          </a:solidFill>
          <a:ln>
            <a:solidFill>
              <a:srgbClr val="725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6547104"/>
            <a:ext cx="2194560" cy="164592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sz="800" b="1">
                <a:solidFill>
                  <a:srgbClr val="666666"/>
                </a:solidFill>
                <a:latin typeface="Aptos"/>
              </a:rPr>
              <a:t>OLIST | POWER BI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72600" y="6547104"/>
            <a:ext cx="2240280" cy="164592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r"/>
            <a:r>
              <a:rPr sz="800" b="0">
                <a:solidFill>
                  <a:srgbClr val="666666"/>
                </a:solidFill>
                <a:latin typeface="Aptos"/>
              </a:rPr>
              <a:t>ANÁLISIS DESCRIPTIVO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457200" cy="182880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sz="900" b="1">
                <a:solidFill>
                  <a:srgbClr val="72566A"/>
                </a:solidFill>
                <a:latin typeface="Aptos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76656"/>
            <a:ext cx="10881360" cy="502920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sz="2700" b="1">
                <a:solidFill>
                  <a:srgbClr val="242424"/>
                </a:solidFill>
                <a:latin typeface="Aptos"/>
              </a:rPr>
              <a:t>Conclusiones página a página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225296"/>
            <a:ext cx="10698480" cy="310896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Aptos"/>
              </a:rPr>
              <a:t>Cada conclusión se vincula directamente con una vista del informe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700784"/>
            <a:ext cx="5230368" cy="1737360"/>
          </a:xfrm>
          <a:prstGeom prst="roundRect">
            <a:avLst/>
          </a:prstGeom>
          <a:solidFill>
            <a:srgbClr val="FAFAF9"/>
          </a:solidFill>
          <a:ln>
            <a:solidFill>
              <a:srgbClr val="E8E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23544" y="1911096"/>
            <a:ext cx="365760" cy="182880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sz="1000" b="1">
                <a:solidFill>
                  <a:srgbClr val="72566A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2212848"/>
            <a:ext cx="2091791" cy="276999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lang="en-US" sz="1500" b="1" dirty="0">
                <a:solidFill>
                  <a:srgbClr val="242424"/>
                </a:solidFill>
                <a:latin typeface="Aptos"/>
              </a:rPr>
              <a:t>KPIs y </a:t>
            </a:r>
            <a:r>
              <a:rPr lang="en-US" sz="1500" b="1" dirty="0" err="1">
                <a:solidFill>
                  <a:srgbClr val="242424"/>
                </a:solidFill>
                <a:latin typeface="Aptos"/>
              </a:rPr>
              <a:t>evolución</a:t>
            </a:r>
            <a:r>
              <a:rPr lang="en-US" sz="1500" b="1" dirty="0">
                <a:solidFill>
                  <a:srgbClr val="242424"/>
                </a:solidFill>
                <a:latin typeface="Aptos"/>
              </a:rPr>
              <a:t> </a:t>
            </a:r>
            <a:r>
              <a:rPr lang="en-US" sz="1500" b="1" dirty="0" err="1">
                <a:solidFill>
                  <a:srgbClr val="242424"/>
                </a:solidFill>
                <a:latin typeface="Aptos"/>
              </a:rPr>
              <a:t>ventas</a:t>
            </a:r>
            <a:endParaRPr sz="1500" b="1" dirty="0">
              <a:solidFill>
                <a:srgbClr val="242424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23544" y="2596896"/>
            <a:ext cx="4873752" cy="646331"/>
          </a:xfrm>
          <a:prstGeom prst="rect">
            <a:avLst/>
          </a:prstGeom>
          <a:noFill/>
        </p:spPr>
        <p:txBody>
          <a:bodyPr wrap="square" lIns="22860" tIns="22860" rIns="22860" bIns="22860" anchor="t">
            <a:spAutoFit/>
          </a:bodyPr>
          <a:lstStyle/>
          <a:p>
            <a:r>
              <a:rPr sz="1300" b="0" dirty="0">
                <a:solidFill>
                  <a:srgbClr val="666666"/>
                </a:solidFill>
                <a:latin typeface="Aptos"/>
              </a:rPr>
              <a:t>El </a:t>
            </a:r>
            <a:r>
              <a:rPr sz="1300" b="0" dirty="0" err="1">
                <a:solidFill>
                  <a:srgbClr val="666666"/>
                </a:solidFill>
                <a:latin typeface="Aptos"/>
              </a:rPr>
              <a:t>negocio</a:t>
            </a:r>
            <a:r>
              <a:rPr sz="1300" b="0" dirty="0">
                <a:solidFill>
                  <a:srgbClr val="666666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666666"/>
                </a:solidFill>
                <a:latin typeface="Aptos"/>
              </a:rPr>
              <a:t>presenta</a:t>
            </a:r>
            <a:r>
              <a:rPr sz="1300" b="0" dirty="0">
                <a:solidFill>
                  <a:srgbClr val="666666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666666"/>
                </a:solidFill>
                <a:latin typeface="Aptos"/>
              </a:rPr>
              <a:t>escala</a:t>
            </a:r>
            <a:r>
              <a:rPr sz="1300" b="0" dirty="0">
                <a:solidFill>
                  <a:srgbClr val="666666"/>
                </a:solidFill>
                <a:latin typeface="Aptos"/>
              </a:rPr>
              <a:t> y </a:t>
            </a:r>
            <a:r>
              <a:rPr sz="1300" b="0" dirty="0" err="1">
                <a:solidFill>
                  <a:srgbClr val="666666"/>
                </a:solidFill>
                <a:latin typeface="Aptos"/>
              </a:rPr>
              <a:t>crecimiento</a:t>
            </a:r>
            <a:r>
              <a:rPr sz="1300" b="0" dirty="0">
                <a:solidFill>
                  <a:srgbClr val="666666"/>
                </a:solidFill>
                <a:latin typeface="Aptos"/>
              </a:rPr>
              <a:t>. La </a:t>
            </a:r>
            <a:r>
              <a:rPr sz="1300" b="0" dirty="0" err="1">
                <a:solidFill>
                  <a:srgbClr val="666666"/>
                </a:solidFill>
                <a:latin typeface="Aptos"/>
              </a:rPr>
              <a:t>cercanía</a:t>
            </a:r>
            <a:r>
              <a:rPr sz="1300" b="0" dirty="0">
                <a:solidFill>
                  <a:srgbClr val="666666"/>
                </a:solidFill>
                <a:latin typeface="Aptos"/>
              </a:rPr>
              <a:t> entre 99 K </a:t>
            </a:r>
            <a:r>
              <a:rPr sz="1300" b="0" dirty="0" err="1">
                <a:solidFill>
                  <a:srgbClr val="666666"/>
                </a:solidFill>
                <a:latin typeface="Aptos"/>
              </a:rPr>
              <a:t>pedidos</a:t>
            </a:r>
            <a:r>
              <a:rPr sz="1300" b="0" dirty="0">
                <a:solidFill>
                  <a:srgbClr val="666666"/>
                </a:solidFill>
                <a:latin typeface="Aptos"/>
              </a:rPr>
              <a:t> y 96 K </a:t>
            </a:r>
            <a:r>
              <a:rPr sz="1300" b="0" dirty="0" err="1">
                <a:solidFill>
                  <a:srgbClr val="666666"/>
                </a:solidFill>
                <a:latin typeface="Aptos"/>
              </a:rPr>
              <a:t>clientes</a:t>
            </a:r>
            <a:r>
              <a:rPr sz="1300" b="0" dirty="0">
                <a:solidFill>
                  <a:srgbClr val="666666"/>
                </a:solidFill>
                <a:latin typeface="Aptos"/>
              </a:rPr>
              <a:t> </a:t>
            </a:r>
            <a:r>
              <a:rPr lang="en-US" sz="1300" dirty="0">
                <a:solidFill>
                  <a:srgbClr val="666666"/>
                </a:solidFill>
                <a:latin typeface="Aptos"/>
              </a:rPr>
              <a:t>indica </a:t>
            </a:r>
            <a:r>
              <a:rPr lang="en-US" sz="1300" dirty="0" err="1">
                <a:solidFill>
                  <a:srgbClr val="666666"/>
                </a:solidFill>
                <a:latin typeface="Aptos"/>
              </a:rPr>
              <a:t>poca</a:t>
            </a:r>
            <a:r>
              <a:rPr lang="en-US" sz="1300" dirty="0">
                <a:solidFill>
                  <a:srgbClr val="666666"/>
                </a:solidFill>
                <a:latin typeface="Aptos"/>
              </a:rPr>
              <a:t> </a:t>
            </a:r>
            <a:r>
              <a:rPr lang="en-US" sz="1300" dirty="0" err="1">
                <a:solidFill>
                  <a:srgbClr val="666666"/>
                </a:solidFill>
                <a:latin typeface="Aptos"/>
              </a:rPr>
              <a:t>recurrencia</a:t>
            </a:r>
            <a:r>
              <a:rPr lang="en-US" sz="1300" dirty="0">
                <a:solidFill>
                  <a:srgbClr val="666666"/>
                </a:solidFill>
                <a:latin typeface="Aptos"/>
              </a:rPr>
              <a:t>.</a:t>
            </a:r>
            <a:r>
              <a:rPr lang="en-US" sz="1300" dirty="0">
                <a:solidFill>
                  <a:srgbClr val="666666"/>
                </a:solidFill>
                <a:latin typeface="Aptos"/>
                <a:sym typeface="Wingdings" panose="05000000000000000000" pitchFamily="2" charset="2"/>
              </a:rPr>
              <a:t> Esto </a:t>
            </a:r>
            <a:r>
              <a:rPr lang="en-US" sz="1300" dirty="0" err="1">
                <a:solidFill>
                  <a:srgbClr val="666666"/>
                </a:solidFill>
                <a:latin typeface="Aptos"/>
                <a:sym typeface="Wingdings" panose="05000000000000000000" pitchFamily="2" charset="2"/>
              </a:rPr>
              <a:t>sugiere</a:t>
            </a:r>
            <a:r>
              <a:rPr lang="en-US" sz="1300" dirty="0">
                <a:solidFill>
                  <a:srgbClr val="666666"/>
                </a:solidFill>
                <a:latin typeface="Aptos"/>
                <a:sym typeface="Wingdings" panose="05000000000000000000" pitchFamily="2" charset="2"/>
              </a:rPr>
              <a:t> </a:t>
            </a:r>
            <a:r>
              <a:rPr lang="en-US" sz="1300" dirty="0" err="1">
                <a:solidFill>
                  <a:srgbClr val="666666"/>
                </a:solidFill>
                <a:latin typeface="Aptos"/>
                <a:sym typeface="Wingdings" panose="05000000000000000000" pitchFamily="2" charset="2"/>
              </a:rPr>
              <a:t>que</a:t>
            </a:r>
            <a:r>
              <a:rPr lang="en-US" sz="1300" dirty="0">
                <a:solidFill>
                  <a:srgbClr val="666666"/>
                </a:solidFill>
                <a:latin typeface="Aptos"/>
                <a:sym typeface="Wingdings" panose="05000000000000000000" pitchFamily="2" charset="2"/>
              </a:rPr>
              <a:t> </a:t>
            </a:r>
            <a:r>
              <a:rPr lang="en-US" sz="1300" dirty="0" err="1">
                <a:solidFill>
                  <a:srgbClr val="666666"/>
                </a:solidFill>
                <a:latin typeface="Aptos"/>
                <a:sym typeface="Wingdings" panose="05000000000000000000" pitchFamily="2" charset="2"/>
              </a:rPr>
              <a:t>muchos</a:t>
            </a:r>
            <a:r>
              <a:rPr lang="en-US" sz="1300" dirty="0">
                <a:solidFill>
                  <a:srgbClr val="666666"/>
                </a:solidFill>
                <a:latin typeface="Aptos"/>
                <a:sym typeface="Wingdings" panose="05000000000000000000" pitchFamily="2" charset="2"/>
              </a:rPr>
              <a:t> </a:t>
            </a:r>
            <a:r>
              <a:rPr lang="en-US" sz="1300" dirty="0" err="1">
                <a:solidFill>
                  <a:srgbClr val="666666"/>
                </a:solidFill>
                <a:latin typeface="Aptos"/>
                <a:sym typeface="Wingdings" panose="05000000000000000000" pitchFamily="2" charset="2"/>
              </a:rPr>
              <a:t>clientes</a:t>
            </a:r>
            <a:r>
              <a:rPr lang="en-US" sz="1300" dirty="0">
                <a:solidFill>
                  <a:srgbClr val="666666"/>
                </a:solidFill>
                <a:latin typeface="Aptos"/>
                <a:sym typeface="Wingdings" panose="05000000000000000000" pitchFamily="2" charset="2"/>
              </a:rPr>
              <a:t> </a:t>
            </a:r>
            <a:r>
              <a:rPr lang="en-US" sz="1300" dirty="0" err="1">
                <a:solidFill>
                  <a:srgbClr val="666666"/>
                </a:solidFill>
                <a:latin typeface="Aptos"/>
                <a:sym typeface="Wingdings" panose="05000000000000000000" pitchFamily="2" charset="2"/>
              </a:rPr>
              <a:t>compraron</a:t>
            </a:r>
            <a:r>
              <a:rPr lang="en-US" sz="1300" dirty="0">
                <a:solidFill>
                  <a:srgbClr val="666666"/>
                </a:solidFill>
                <a:latin typeface="Aptos"/>
                <a:sym typeface="Wingdings" panose="05000000000000000000" pitchFamily="2" charset="2"/>
              </a:rPr>
              <a:t> </a:t>
            </a:r>
            <a:r>
              <a:rPr lang="en-US" sz="1300" dirty="0" err="1">
                <a:solidFill>
                  <a:srgbClr val="666666"/>
                </a:solidFill>
                <a:latin typeface="Aptos"/>
                <a:sym typeface="Wingdings" panose="05000000000000000000" pitchFamily="2" charset="2"/>
              </a:rPr>
              <a:t>una</a:t>
            </a:r>
            <a:r>
              <a:rPr lang="en-US" sz="1300" dirty="0">
                <a:solidFill>
                  <a:srgbClr val="666666"/>
                </a:solidFill>
                <a:latin typeface="Aptos"/>
                <a:sym typeface="Wingdings" panose="05000000000000000000" pitchFamily="2" charset="2"/>
              </a:rPr>
              <a:t> sola </a:t>
            </a:r>
            <a:r>
              <a:rPr lang="en-US" sz="1300" dirty="0" err="1">
                <a:solidFill>
                  <a:srgbClr val="666666"/>
                </a:solidFill>
                <a:latin typeface="Aptos"/>
                <a:sym typeface="Wingdings" panose="05000000000000000000" pitchFamily="2" charset="2"/>
              </a:rPr>
              <a:t>vez</a:t>
            </a:r>
            <a:r>
              <a:rPr sz="1300" b="0" dirty="0">
                <a:solidFill>
                  <a:srgbClr val="666666"/>
                </a:solidFill>
                <a:latin typeface="Aptos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2784" y="1700784"/>
            <a:ext cx="5230368" cy="1737360"/>
          </a:xfrm>
          <a:prstGeom prst="roundRect">
            <a:avLst/>
          </a:prstGeom>
          <a:solidFill>
            <a:srgbClr val="FAFAF9"/>
          </a:solidFill>
          <a:ln>
            <a:solidFill>
              <a:srgbClr val="E8E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83096" y="1911096"/>
            <a:ext cx="365760" cy="182880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sz="1000" b="1">
                <a:solidFill>
                  <a:srgbClr val="72566A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3096" y="2212848"/>
            <a:ext cx="2057400" cy="219456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sz="1500" b="1">
                <a:solidFill>
                  <a:srgbClr val="242424"/>
                </a:solidFill>
                <a:latin typeface="Aptos"/>
              </a:rPr>
              <a:t>PRODUCTOS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3096" y="2596896"/>
            <a:ext cx="4334256" cy="446276"/>
          </a:xfrm>
          <a:prstGeom prst="rect">
            <a:avLst/>
          </a:prstGeom>
          <a:noFill/>
        </p:spPr>
        <p:txBody>
          <a:bodyPr wrap="square" lIns="22860" tIns="22860" rIns="22860" bIns="22860" anchor="t">
            <a:spAutoFit/>
          </a:bodyPr>
          <a:lstStyle/>
          <a:p>
            <a:pPr algn="l"/>
            <a:r>
              <a:rPr sz="1300" b="0" dirty="0">
                <a:solidFill>
                  <a:srgbClr val="666666"/>
                </a:solidFill>
                <a:latin typeface="Aptos"/>
              </a:rPr>
              <a:t>Las </a:t>
            </a:r>
            <a:r>
              <a:rPr sz="1300" b="0" dirty="0" err="1">
                <a:solidFill>
                  <a:srgbClr val="666666"/>
                </a:solidFill>
                <a:latin typeface="Aptos"/>
              </a:rPr>
              <a:t>ventas</a:t>
            </a:r>
            <a:r>
              <a:rPr sz="1300" b="0" dirty="0">
                <a:solidFill>
                  <a:srgbClr val="666666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666666"/>
                </a:solidFill>
                <a:latin typeface="Aptos"/>
              </a:rPr>
              <a:t>están</a:t>
            </a:r>
            <a:r>
              <a:rPr sz="1300" b="0" dirty="0">
                <a:solidFill>
                  <a:srgbClr val="666666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666666"/>
                </a:solidFill>
                <a:latin typeface="Aptos"/>
              </a:rPr>
              <a:t>diversificadas</a:t>
            </a:r>
            <a:r>
              <a:rPr sz="1300" b="0" dirty="0">
                <a:solidFill>
                  <a:srgbClr val="666666"/>
                </a:solidFill>
                <a:latin typeface="Aptos"/>
              </a:rPr>
              <a:t>, </a:t>
            </a:r>
            <a:r>
              <a:rPr sz="1300" b="0" dirty="0" err="1">
                <a:solidFill>
                  <a:srgbClr val="666666"/>
                </a:solidFill>
                <a:latin typeface="Aptos"/>
              </a:rPr>
              <a:t>aunque</a:t>
            </a:r>
            <a:r>
              <a:rPr sz="1300" b="0" dirty="0">
                <a:solidFill>
                  <a:srgbClr val="666666"/>
                </a:solidFill>
                <a:latin typeface="Aptos"/>
              </a:rPr>
              <a:t> Health &amp; Beauty y Watches &amp; Gifts son </a:t>
            </a:r>
            <a:r>
              <a:rPr sz="1300" b="0" dirty="0" err="1">
                <a:solidFill>
                  <a:srgbClr val="666666"/>
                </a:solidFill>
                <a:latin typeface="Aptos"/>
              </a:rPr>
              <a:t>los</a:t>
            </a:r>
            <a:r>
              <a:rPr sz="1300" b="0" dirty="0">
                <a:solidFill>
                  <a:srgbClr val="666666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666666"/>
                </a:solidFill>
                <a:latin typeface="Aptos"/>
              </a:rPr>
              <a:t>principales</a:t>
            </a:r>
            <a:r>
              <a:rPr sz="1300" b="0" dirty="0">
                <a:solidFill>
                  <a:srgbClr val="666666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666666"/>
                </a:solidFill>
                <a:latin typeface="Aptos"/>
              </a:rPr>
              <a:t>motores</a:t>
            </a:r>
            <a:r>
              <a:rPr sz="1300" b="0" dirty="0">
                <a:solidFill>
                  <a:srgbClr val="666666"/>
                </a:solidFill>
                <a:latin typeface="Aptos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785615"/>
            <a:ext cx="5230368" cy="1737360"/>
          </a:xfrm>
          <a:prstGeom prst="roundRect">
            <a:avLst/>
          </a:prstGeom>
          <a:solidFill>
            <a:srgbClr val="FAFAF9"/>
          </a:solidFill>
          <a:ln>
            <a:solidFill>
              <a:srgbClr val="E8E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23544" y="3995928"/>
            <a:ext cx="365760" cy="182880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sz="1000" b="1">
                <a:solidFill>
                  <a:srgbClr val="72566A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" y="4297679"/>
            <a:ext cx="2057400" cy="219456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sz="1500" b="1">
                <a:solidFill>
                  <a:srgbClr val="242424"/>
                </a:solidFill>
                <a:latin typeface="Aptos"/>
              </a:rPr>
              <a:t>GEOGRAFÍA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" y="4681727"/>
            <a:ext cx="4379976" cy="646331"/>
          </a:xfrm>
          <a:prstGeom prst="rect">
            <a:avLst/>
          </a:prstGeom>
          <a:noFill/>
        </p:spPr>
        <p:txBody>
          <a:bodyPr wrap="square" lIns="22860" tIns="22860" rIns="22860" bIns="22860" anchor="t">
            <a:spAutoFit/>
          </a:bodyPr>
          <a:lstStyle/>
          <a:p>
            <a:pPr algn="l"/>
            <a:r>
              <a:rPr sz="1300" b="0" dirty="0">
                <a:solidFill>
                  <a:srgbClr val="666666"/>
                </a:solidFill>
                <a:latin typeface="Aptos"/>
              </a:rPr>
              <a:t>São Paulo </a:t>
            </a:r>
            <a:r>
              <a:rPr sz="1300" b="0" dirty="0" err="1">
                <a:solidFill>
                  <a:srgbClr val="666666"/>
                </a:solidFill>
                <a:latin typeface="Aptos"/>
              </a:rPr>
              <a:t>concentra</a:t>
            </a:r>
            <a:r>
              <a:rPr sz="1300" b="0" dirty="0">
                <a:solidFill>
                  <a:srgbClr val="666666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666666"/>
                </a:solidFill>
                <a:latin typeface="Aptos"/>
              </a:rPr>
              <a:t>cerca</a:t>
            </a:r>
            <a:r>
              <a:rPr sz="1300" b="0" dirty="0">
                <a:solidFill>
                  <a:srgbClr val="666666"/>
                </a:solidFill>
                <a:latin typeface="Aptos"/>
              </a:rPr>
              <a:t> del 38 % de las </a:t>
            </a:r>
            <a:r>
              <a:rPr sz="1300" b="0" dirty="0" err="1">
                <a:solidFill>
                  <a:srgbClr val="666666"/>
                </a:solidFill>
                <a:latin typeface="Aptos"/>
              </a:rPr>
              <a:t>ventas</a:t>
            </a:r>
            <a:r>
              <a:rPr sz="1300" b="0" dirty="0">
                <a:solidFill>
                  <a:srgbClr val="666666"/>
                </a:solidFill>
                <a:latin typeface="Aptos"/>
              </a:rPr>
              <a:t>. </a:t>
            </a:r>
            <a:r>
              <a:rPr lang="en-US" sz="1300" b="0" dirty="0">
                <a:solidFill>
                  <a:srgbClr val="666666"/>
                </a:solidFill>
                <a:latin typeface="Aptos"/>
              </a:rPr>
              <a:t>Rio de Janeiro</a:t>
            </a:r>
            <a:r>
              <a:rPr sz="1300" b="0" dirty="0">
                <a:solidFill>
                  <a:srgbClr val="666666"/>
                </a:solidFill>
                <a:latin typeface="Aptos"/>
              </a:rPr>
              <a:t> y </a:t>
            </a:r>
            <a:r>
              <a:rPr lang="en-US" sz="1300" b="0" dirty="0">
                <a:solidFill>
                  <a:srgbClr val="666666"/>
                </a:solidFill>
                <a:latin typeface="Aptos"/>
              </a:rPr>
              <a:t>Minas Gerais</a:t>
            </a:r>
            <a:r>
              <a:rPr sz="1300" b="0" dirty="0">
                <a:solidFill>
                  <a:srgbClr val="666666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666666"/>
                </a:solidFill>
                <a:latin typeface="Aptos"/>
              </a:rPr>
              <a:t>forman</a:t>
            </a:r>
            <a:r>
              <a:rPr sz="1300" b="0" dirty="0">
                <a:solidFill>
                  <a:srgbClr val="666666"/>
                </a:solidFill>
                <a:latin typeface="Aptos"/>
              </a:rPr>
              <a:t> el </a:t>
            </a:r>
            <a:r>
              <a:rPr sz="1300" b="0" dirty="0" err="1">
                <a:solidFill>
                  <a:srgbClr val="666666"/>
                </a:solidFill>
                <a:latin typeface="Aptos"/>
              </a:rPr>
              <a:t>segundo</a:t>
            </a:r>
            <a:r>
              <a:rPr sz="1300" b="0" dirty="0">
                <a:solidFill>
                  <a:srgbClr val="666666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666666"/>
                </a:solidFill>
                <a:latin typeface="Aptos"/>
              </a:rPr>
              <a:t>bloque</a:t>
            </a:r>
            <a:r>
              <a:rPr sz="1300" b="0" dirty="0">
                <a:solidFill>
                  <a:srgbClr val="666666"/>
                </a:solidFill>
                <a:latin typeface="Aptos"/>
              </a:rPr>
              <a:t> de </a:t>
            </a:r>
            <a:r>
              <a:rPr sz="1300" b="0" dirty="0" err="1">
                <a:solidFill>
                  <a:srgbClr val="666666"/>
                </a:solidFill>
                <a:latin typeface="Aptos"/>
              </a:rPr>
              <a:t>actividad</a:t>
            </a:r>
            <a:r>
              <a:rPr sz="1300" b="0" dirty="0">
                <a:solidFill>
                  <a:srgbClr val="666666"/>
                </a:solidFill>
                <a:latin typeface="Aptos"/>
              </a:rPr>
              <a:t>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2784" y="3785615"/>
            <a:ext cx="5230368" cy="1737360"/>
          </a:xfrm>
          <a:prstGeom prst="roundRect">
            <a:avLst/>
          </a:prstGeom>
          <a:solidFill>
            <a:srgbClr val="FAFAF9"/>
          </a:solidFill>
          <a:ln>
            <a:solidFill>
              <a:srgbClr val="E8E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83096" y="3995928"/>
            <a:ext cx="365760" cy="182880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sz="1000" b="1">
                <a:solidFill>
                  <a:srgbClr val="72566A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3096" y="4297679"/>
            <a:ext cx="2057400" cy="219456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sz="1500" b="1">
                <a:solidFill>
                  <a:srgbClr val="242424"/>
                </a:solidFill>
                <a:latin typeface="Aptos"/>
              </a:rPr>
              <a:t>SATISFACCIÓN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83096" y="4681727"/>
            <a:ext cx="4215384" cy="446276"/>
          </a:xfrm>
          <a:prstGeom prst="rect">
            <a:avLst/>
          </a:prstGeom>
          <a:noFill/>
        </p:spPr>
        <p:txBody>
          <a:bodyPr wrap="square" lIns="22860" tIns="22860" rIns="22860" bIns="22860" anchor="t">
            <a:spAutoFit/>
          </a:bodyPr>
          <a:lstStyle/>
          <a:p>
            <a:pPr algn="l"/>
            <a:r>
              <a:rPr sz="1300" b="0" dirty="0">
                <a:solidFill>
                  <a:srgbClr val="666666"/>
                </a:solidFill>
                <a:latin typeface="Aptos"/>
              </a:rPr>
              <a:t>La </a:t>
            </a:r>
            <a:r>
              <a:rPr sz="1300" b="0" dirty="0" err="1">
                <a:solidFill>
                  <a:srgbClr val="666666"/>
                </a:solidFill>
                <a:latin typeface="Aptos"/>
              </a:rPr>
              <a:t>experiencia</a:t>
            </a:r>
            <a:r>
              <a:rPr sz="1300" b="0" dirty="0">
                <a:solidFill>
                  <a:srgbClr val="666666"/>
                </a:solidFill>
                <a:latin typeface="Aptos"/>
              </a:rPr>
              <a:t> global es </a:t>
            </a:r>
            <a:r>
              <a:rPr sz="1300" b="0" dirty="0" err="1">
                <a:solidFill>
                  <a:srgbClr val="666666"/>
                </a:solidFill>
                <a:latin typeface="Aptos"/>
              </a:rPr>
              <a:t>positiva</a:t>
            </a:r>
            <a:r>
              <a:rPr sz="1300" b="0" dirty="0">
                <a:solidFill>
                  <a:srgbClr val="666666"/>
                </a:solidFill>
                <a:latin typeface="Aptos"/>
              </a:rPr>
              <a:t>. Los </a:t>
            </a:r>
            <a:r>
              <a:rPr sz="1300" b="0" dirty="0" err="1">
                <a:solidFill>
                  <a:srgbClr val="666666"/>
                </a:solidFill>
                <a:latin typeface="Aptos"/>
              </a:rPr>
              <a:t>retrasos</a:t>
            </a:r>
            <a:r>
              <a:rPr sz="1300" b="0" dirty="0">
                <a:solidFill>
                  <a:srgbClr val="666666"/>
                </a:solidFill>
                <a:latin typeface="Aptos"/>
              </a:rPr>
              <a:t> y </a:t>
            </a:r>
            <a:r>
              <a:rPr sz="1300" b="0" dirty="0" err="1">
                <a:solidFill>
                  <a:srgbClr val="666666"/>
                </a:solidFill>
                <a:latin typeface="Aptos"/>
              </a:rPr>
              <a:t>casos</a:t>
            </a:r>
            <a:r>
              <a:rPr sz="1300" b="0" dirty="0">
                <a:solidFill>
                  <a:srgbClr val="666666"/>
                </a:solidFill>
                <a:latin typeface="Aptos"/>
              </a:rPr>
              <a:t> sin </a:t>
            </a:r>
            <a:r>
              <a:rPr sz="1300" b="0" dirty="0" err="1">
                <a:solidFill>
                  <a:srgbClr val="666666"/>
                </a:solidFill>
                <a:latin typeface="Aptos"/>
              </a:rPr>
              <a:t>entrega</a:t>
            </a:r>
            <a:r>
              <a:rPr sz="1300" b="0" dirty="0">
                <a:solidFill>
                  <a:srgbClr val="666666"/>
                </a:solidFill>
                <a:latin typeface="Aptos"/>
              </a:rPr>
              <a:t> </a:t>
            </a:r>
            <a:r>
              <a:rPr lang="en-US" sz="1300" b="0" dirty="0">
                <a:solidFill>
                  <a:srgbClr val="666666"/>
                </a:solidFill>
                <a:latin typeface="Aptos"/>
              </a:rPr>
              <a:t>son </a:t>
            </a:r>
            <a:r>
              <a:rPr lang="en-US" sz="1300" b="0" dirty="0" err="1">
                <a:solidFill>
                  <a:srgbClr val="666666"/>
                </a:solidFill>
                <a:latin typeface="Aptos"/>
              </a:rPr>
              <a:t>pocos</a:t>
            </a:r>
            <a:r>
              <a:rPr lang="en-US" sz="1300" b="0" dirty="0">
                <a:solidFill>
                  <a:srgbClr val="666666"/>
                </a:solidFill>
                <a:latin typeface="Aptos"/>
              </a:rPr>
              <a:t> </a:t>
            </a:r>
            <a:r>
              <a:rPr lang="en-US" sz="1300" b="0" dirty="0" err="1">
                <a:solidFill>
                  <a:srgbClr val="666666"/>
                </a:solidFill>
                <a:latin typeface="Aptos"/>
              </a:rPr>
              <a:t>pero</a:t>
            </a:r>
            <a:r>
              <a:rPr lang="en-US" sz="1300" b="0" dirty="0">
                <a:solidFill>
                  <a:srgbClr val="666666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666666"/>
                </a:solidFill>
                <a:latin typeface="Aptos"/>
              </a:rPr>
              <a:t>siguen</a:t>
            </a:r>
            <a:r>
              <a:rPr sz="1300" b="0" dirty="0">
                <a:solidFill>
                  <a:srgbClr val="666666"/>
                </a:solidFill>
                <a:latin typeface="Aptos"/>
              </a:rPr>
              <a:t> </a:t>
            </a:r>
            <a:r>
              <a:rPr sz="1300" b="0" dirty="0" err="1">
                <a:solidFill>
                  <a:srgbClr val="666666"/>
                </a:solidFill>
                <a:latin typeface="Aptos"/>
              </a:rPr>
              <a:t>siendo</a:t>
            </a:r>
            <a:r>
              <a:rPr sz="1300" b="0" dirty="0">
                <a:solidFill>
                  <a:srgbClr val="666666"/>
                </a:solidFill>
                <a:latin typeface="Aptos"/>
              </a:rPr>
              <a:t> el </a:t>
            </a:r>
            <a:r>
              <a:rPr sz="1300" b="0" dirty="0" err="1">
                <a:solidFill>
                  <a:srgbClr val="666666"/>
                </a:solidFill>
                <a:latin typeface="Aptos"/>
              </a:rPr>
              <a:t>foco</a:t>
            </a:r>
            <a:r>
              <a:rPr sz="1300" b="0" dirty="0">
                <a:solidFill>
                  <a:srgbClr val="666666"/>
                </a:solidFill>
                <a:latin typeface="Aptos"/>
              </a:rPr>
              <a:t> de </a:t>
            </a:r>
            <a:r>
              <a:rPr sz="1300" b="0" dirty="0" err="1">
                <a:solidFill>
                  <a:srgbClr val="666666"/>
                </a:solidFill>
                <a:latin typeface="Aptos"/>
              </a:rPr>
              <a:t>mejora</a:t>
            </a:r>
            <a:r>
              <a:rPr sz="1300" b="0" dirty="0">
                <a:solidFill>
                  <a:srgbClr val="666666"/>
                </a:solidFill>
                <a:latin typeface="Aptos"/>
              </a:rPr>
              <a:t>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5853848"/>
            <a:ext cx="10808208" cy="457200"/>
          </a:xfrm>
          <a:prstGeom prst="roundRect">
            <a:avLst/>
          </a:prstGeom>
          <a:solidFill>
            <a:srgbClr val="242424"/>
          </a:solidFill>
          <a:ln>
            <a:solidFill>
              <a:srgbClr val="2424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5840" y="5972720"/>
            <a:ext cx="10195560" cy="219456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ctr"/>
            <a:r>
              <a:rPr sz="1400" b="1" dirty="0" err="1">
                <a:solidFill>
                  <a:srgbClr val="FFFFFF"/>
                </a:solidFill>
                <a:latin typeface="Aptos"/>
              </a:rPr>
              <a:t>Conclusión</a:t>
            </a:r>
            <a:r>
              <a:rPr sz="1400" b="1" dirty="0">
                <a:solidFill>
                  <a:srgbClr val="FFFFFF"/>
                </a:solidFill>
                <a:latin typeface="Aptos"/>
              </a:rPr>
              <a:t> global: </a:t>
            </a:r>
            <a:r>
              <a:rPr sz="1400" b="1" dirty="0" err="1">
                <a:solidFill>
                  <a:srgbClr val="FFFFFF"/>
                </a:solidFill>
                <a:latin typeface="Aptos"/>
              </a:rPr>
              <a:t>crecer</a:t>
            </a:r>
            <a:r>
              <a:rPr sz="1400" b="1" dirty="0">
                <a:solidFill>
                  <a:srgbClr val="FFFFFF"/>
                </a:solidFill>
                <a:latin typeface="Aptos"/>
              </a:rPr>
              <a:t> sin </a:t>
            </a:r>
            <a:r>
              <a:rPr sz="1400" b="1" dirty="0" err="1">
                <a:solidFill>
                  <a:srgbClr val="FFFFFF"/>
                </a:solidFill>
                <a:latin typeface="Aptos"/>
              </a:rPr>
              <a:t>perder</a:t>
            </a:r>
            <a:r>
              <a:rPr sz="1400" b="1" dirty="0">
                <a:solidFill>
                  <a:srgbClr val="FFFFFF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Aptos"/>
              </a:rPr>
              <a:t>calidad</a:t>
            </a:r>
            <a:r>
              <a:rPr sz="1400" b="1" dirty="0">
                <a:solidFill>
                  <a:srgbClr val="FFFFFF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Aptos"/>
              </a:rPr>
              <a:t>exige</a:t>
            </a:r>
            <a:r>
              <a:rPr sz="1400" b="1" dirty="0">
                <a:solidFill>
                  <a:srgbClr val="FFFFFF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Aptos"/>
              </a:rPr>
              <a:t>combinar</a:t>
            </a:r>
            <a:r>
              <a:rPr sz="1400" b="1" dirty="0">
                <a:solidFill>
                  <a:srgbClr val="FFFFFF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Aptos"/>
              </a:rPr>
              <a:t>fidelización</a:t>
            </a:r>
            <a:r>
              <a:rPr sz="1400" b="1" dirty="0">
                <a:solidFill>
                  <a:srgbClr val="FFFFFF"/>
                </a:solidFill>
                <a:latin typeface="Aptos"/>
              </a:rPr>
              <a:t>, </a:t>
            </a:r>
            <a:r>
              <a:rPr sz="1400" b="1" dirty="0" err="1">
                <a:solidFill>
                  <a:srgbClr val="FFFFFF"/>
                </a:solidFill>
                <a:latin typeface="Aptos"/>
              </a:rPr>
              <a:t>foco</a:t>
            </a:r>
            <a:r>
              <a:rPr sz="1400" b="1" dirty="0">
                <a:solidFill>
                  <a:srgbClr val="FFFFFF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Aptos"/>
              </a:rPr>
              <a:t>comercial</a:t>
            </a:r>
            <a:r>
              <a:rPr sz="1400" b="1" dirty="0">
                <a:solidFill>
                  <a:srgbClr val="FFFFFF"/>
                </a:solidFill>
                <a:latin typeface="Aptos"/>
              </a:rPr>
              <a:t> y control </a:t>
            </a:r>
            <a:r>
              <a:rPr sz="1400" b="1" dirty="0" err="1">
                <a:solidFill>
                  <a:srgbClr val="FFFFFF"/>
                </a:solidFill>
                <a:latin typeface="Aptos"/>
              </a:rPr>
              <a:t>logístico</a:t>
            </a:r>
            <a:r>
              <a:rPr sz="1400" b="1" dirty="0">
                <a:solidFill>
                  <a:srgbClr val="FFFFFF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72566A"/>
          </a:solidFill>
          <a:ln>
            <a:solidFill>
              <a:srgbClr val="725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6547104"/>
            <a:ext cx="2194560" cy="164592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sz="800" b="1">
                <a:solidFill>
                  <a:srgbClr val="666666"/>
                </a:solidFill>
                <a:latin typeface="Aptos"/>
              </a:rPr>
              <a:t>OLIST | POWER BI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72600" y="6547104"/>
            <a:ext cx="2240280" cy="164592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r"/>
            <a:r>
              <a:rPr sz="800" b="0">
                <a:solidFill>
                  <a:srgbClr val="666666"/>
                </a:solidFill>
                <a:latin typeface="Aptos"/>
              </a:rPr>
              <a:t>ANÁLISIS DESCRIPTIVO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457200" cy="182880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sz="900" b="1">
                <a:solidFill>
                  <a:srgbClr val="72566A"/>
                </a:solidFill>
                <a:latin typeface="Aptos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76656"/>
            <a:ext cx="10881360" cy="502920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sz="2700" b="1">
                <a:solidFill>
                  <a:srgbClr val="242424"/>
                </a:solidFill>
                <a:latin typeface="Aptos"/>
              </a:rPr>
              <a:t>Recomendaciones para Olist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225296"/>
            <a:ext cx="10698480" cy="310896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Aptos"/>
              </a:rPr>
              <a:t>Cuatro acciones directamente relacionadas con los resultados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10744200" cy="804672"/>
          </a:xfrm>
          <a:prstGeom prst="roundRect">
            <a:avLst/>
          </a:prstGeom>
          <a:solidFill>
            <a:srgbClr val="FAFAF9"/>
          </a:solidFill>
          <a:ln>
            <a:solidFill>
              <a:srgbClr val="E8E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41832" y="1901952"/>
            <a:ext cx="457200" cy="457200"/>
          </a:xfrm>
          <a:prstGeom prst="roundRect">
            <a:avLst/>
          </a:prstGeom>
          <a:solidFill>
            <a:srgbClr val="72566A"/>
          </a:solidFill>
          <a:ln>
            <a:solidFill>
              <a:srgbClr val="725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78992" y="2020824"/>
            <a:ext cx="164592" cy="146304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892807"/>
            <a:ext cx="3429000" cy="228600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sz="1400" b="1">
                <a:solidFill>
                  <a:srgbClr val="242424"/>
                </a:solidFill>
                <a:latin typeface="Aptos"/>
              </a:rPr>
              <a:t>PROTEGER LOS MERCADOS CLAVE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80" y="1865376"/>
            <a:ext cx="5806440" cy="402336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ptos"/>
              </a:rPr>
              <a:t>Reforzar capacidad logística y calidad de servicio en SP, RJ y MG.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770632"/>
            <a:ext cx="10744200" cy="804672"/>
          </a:xfrm>
          <a:prstGeom prst="roundRect">
            <a:avLst/>
          </a:prstGeom>
          <a:solidFill>
            <a:srgbClr val="FAFAF9"/>
          </a:solidFill>
          <a:ln>
            <a:solidFill>
              <a:srgbClr val="E8E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41832" y="2935224"/>
            <a:ext cx="457200" cy="457200"/>
          </a:xfrm>
          <a:prstGeom prst="roundRect">
            <a:avLst/>
          </a:prstGeom>
          <a:solidFill>
            <a:srgbClr val="72566A"/>
          </a:solidFill>
          <a:ln>
            <a:solidFill>
              <a:srgbClr val="725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78992" y="3054096"/>
            <a:ext cx="164592" cy="146304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27632" y="2926079"/>
            <a:ext cx="3429000" cy="228600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sz="1400" b="1">
                <a:solidFill>
                  <a:srgbClr val="242424"/>
                </a:solidFill>
                <a:latin typeface="Aptos"/>
              </a:rPr>
              <a:t>POTENCIAR LAS CATEGORÍAS LÍDERES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2898648"/>
            <a:ext cx="5806440" cy="402336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ptos"/>
              </a:rPr>
              <a:t>Priorizar stock, campañas y venta cruzada en las categorías con mayor facturación.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803904"/>
            <a:ext cx="10744200" cy="804672"/>
          </a:xfrm>
          <a:prstGeom prst="roundRect">
            <a:avLst/>
          </a:prstGeom>
          <a:solidFill>
            <a:srgbClr val="FAFAF9"/>
          </a:solidFill>
          <a:ln>
            <a:solidFill>
              <a:srgbClr val="E8E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41832" y="3968496"/>
            <a:ext cx="457200" cy="457200"/>
          </a:xfrm>
          <a:prstGeom prst="roundRect">
            <a:avLst/>
          </a:prstGeom>
          <a:solidFill>
            <a:srgbClr val="72566A"/>
          </a:solidFill>
          <a:ln>
            <a:solidFill>
              <a:srgbClr val="725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78992" y="4087368"/>
            <a:ext cx="164592" cy="146304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27632" y="3959352"/>
            <a:ext cx="3429000" cy="228600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sz="1400" b="1">
                <a:solidFill>
                  <a:srgbClr val="242424"/>
                </a:solidFill>
                <a:latin typeface="Aptos"/>
              </a:rPr>
              <a:t>AUMENTAR LA RECURRENCIA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83480" y="3931920"/>
            <a:ext cx="5806440" cy="402336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ptos"/>
              </a:rPr>
              <a:t>Desarrollar acciones de recompra, fidelización y comunicación posventa.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837175"/>
            <a:ext cx="10744200" cy="804672"/>
          </a:xfrm>
          <a:prstGeom prst="roundRect">
            <a:avLst/>
          </a:prstGeom>
          <a:solidFill>
            <a:srgbClr val="FAFAF9"/>
          </a:solidFill>
          <a:ln>
            <a:solidFill>
              <a:srgbClr val="E8E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941832" y="5001767"/>
            <a:ext cx="457200" cy="457200"/>
          </a:xfrm>
          <a:prstGeom prst="roundRect">
            <a:avLst/>
          </a:prstGeom>
          <a:solidFill>
            <a:srgbClr val="72566A"/>
          </a:solidFill>
          <a:ln>
            <a:solidFill>
              <a:srgbClr val="725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78992" y="5120639"/>
            <a:ext cx="164592" cy="146304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27632" y="4992623"/>
            <a:ext cx="3429000" cy="228600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sz="1400" b="1">
                <a:solidFill>
                  <a:srgbClr val="242424"/>
                </a:solidFill>
                <a:latin typeface="Aptos"/>
              </a:rPr>
              <a:t>REDUCIR EXCEPCIONES LOGÍSTICAS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83480" y="4965191"/>
            <a:ext cx="5806440" cy="402336"/>
          </a:xfrm>
          <a:prstGeom prst="rect">
            <a:avLst/>
          </a:prstGeom>
          <a:noFill/>
        </p:spPr>
        <p:txBody>
          <a:bodyPr wrap="none" lIns="22860" tIns="22860" rIns="22860" bIns="22860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Aptos"/>
              </a:rPr>
              <a:t>Crear alertas para pedidos con riesgo de retraso o ausencia de entrega.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</TotalTime>
  <Words>856</Words>
  <Application>Microsoft Office PowerPoint</Application>
  <PresentationFormat>Widescreen</PresentationFormat>
  <Paragraphs>173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Berta Rosas Subirats</dc:creator>
  <cp:keywords/>
  <dc:description>generated using python-pptx</dc:description>
  <cp:lastModifiedBy>Berta Rosas Subirats</cp:lastModifiedBy>
  <cp:revision>2</cp:revision>
  <dcterms:created xsi:type="dcterms:W3CDTF">2026-09-30T11:06:44Z</dcterms:created>
  <dcterms:modified xsi:type="dcterms:W3CDTF">2026-09-30T14:18:37Z</dcterms:modified>
  <cp:category/>
</cp:coreProperties>
</file>